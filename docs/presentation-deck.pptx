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method, not any individual. Every figure in the case study is illustrative; no personnel data appears anywhere in it. The five parts are: what the system is, what we want it to achieve, the methodology and the reasoning behind it, a worked example, and what the system deliberately does 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The taxonomy is reference data, versioned in the repository as JSON and seeded into the system. We are not an accredited laboratory; we align the method with ISO/IEC 17025 because it is the established approach. The record is runtime data about people. The decisions are the reports: gap analysis, service readiness, project staffing. Stage three is what managers actually open each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laboratory is not accredited and this is not a compliance exercise. We align our competence method with ISO/IEC 17025 because it is the established answer to the second question, and holding ourselves to it makes the other two answerable too. The third question is the one people in the lab care about most, and the one a job title answers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an accredited laboratory. We align our competence method with ISO/IEC 17025 because it is the established approach for this kind of work, not because an external body requires it of us. If anyone asks, that distinction matters: alignment is a choice we can defend on its merits.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 fields are the ones people forget. Competence is a claim about a point in time, never a permanent property. Last practiced is captured separately from assessed, because a level 4 last exercised three years ago is a different fact from one exercised last month. Every change to any of these fields is logged with the person who made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counts. Two things worth drawing out. First, the match reads skills across every domain, not just the one the service sits in, so a hardware job that needs cryptography depth finds it. Second, when a project closes, the work done on it can feed back as evidence towards assessments, which is what keeps the records current between review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Dreyfus and Dreyfus, 1980, University of California Berkeley. Five stages of directed skill acquisition. Their point was that the stages differ in kind, not degree: a novice follows rules, an expert reads situations and is often poor at explaining what they just did. ISO 17025 supplies the other half, and it is administrative rather than psychological. Every one of the 278 skills is scored on this same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ISO/IEC 17025 Clause 6.2.5(e) is where the third step comes from, and we follow it although we are not accredited. Authorization is a management act, not an automatic consequence of crossing a threshold. The software computes; it never promotes. A person can be stuck at level 2 for a year through no fault of their own, simply because the right engagement has not come through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person may state their own view of their competence but not ratify it, because ratifying is what makes the number binding. HR does not need to understand the technical content. What matters is its shape: specific, observable, countable, and fixed in advance. This is the structural difference between a competency framework and a performance review. The criteria live in the taxonomy as a controlled document, so changing them is itself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slide. The NICE and SFIA mappings are the translation layer: they let us write a job advertisement, answer a tender, or show a partner that our internal vocabulary connects to a recognised one. The technical mappings are what make a skill definition specific enough to assess against. Worth noting that no skills framework, meaning NICE, SFIA or ECSF, covers hardware security, which is why that part of the taxonomy was synthesized from CHES and COSADE literature, Common Criteria methodology, FIPS 140-3 and EMVCo.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Whether breadth across domains can stand in for depth in one is a judgement we do make, but have not codified; it is named in the limitations. The practical rule: use a profile to answer "what should this person work on next", and use the whole set of rows to answer "what can this person be put on". Confusing the two is the most common way to misread somebody. The Foundations domain sits underneath all eleven and is not shown here, because everybody is measured on it regardless of specialism.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wants the exact arithmetic: depth is checked at two levels at once, for example sixteen skills at level 3 and seven at level 4. Breadth counts categories where a skill is held at level 2 or above, so awareness alone does not count. The foundations check is an average across all eleven foundation skills, with unassessed ones counting as zero. Keep that off the slide unless asked; the four questions are what people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plainly: these are tiers on a technical ladder, and every one of them is reached by assessed capability rather than by appointment. Every Principal threshold already implies the matching Lead threshold, so nobody reaches the fifth tier without having passed through the fourth.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real personnel data appears in this deck. Stress that one failing gate is enough, and that this is the point of the design rather than a flaw in it. Somebody who is a clear 17 against a required 16 on depth still does not advance, because the second depth count is what distinguishes a broad practitioner from a senior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project closes, the work done on it can feed back as evidence towards assessments. That is the loop which keeps records current instead of letting them rot between annual review cycles. Without it, a competency system is accurate on the day it is populated and wrong six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this with HR, because the temptation to use the ladder as a complete picture of a person is strong and the consequences are unfair. Nothing in the 281 skills captures contribution, reliability or collegiality. Those remain a manager's job, informed by this record but not replaced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one is the live question. Tiers are computed per domain, so a person who is Senior in two domains has two Senior positions and no aggregate. In practice somebody weighs that up and may treat them as beyond either, which is a defensible judgement and an unrecorded one. Codifying it would mean inventing an exchange rate between domains, which the deck elsewhere says does not exist, so for now it stays a conversation. Two others if there is time: a level is only as good as its assessor, with no second assessor and no calibration between them; and the foundations average counts unassessed skills as zero, so new joiners look worse than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Offer the companion reading document, which carries the full standards list, the glossary and the complete threshold tables for all eleven ladders. Invite HR to bring back the cases where they wanted a number the system would not give them, because those are what tell us which limitation to work on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0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83658"/>
          </a:xfrm>
          <a:prstGeom prst="rect">
            <a:avLst/>
          </a:prstGeom>
          <a:noFill/>
          <a:ln/>
        </p:spPr>
        <p:txBody>
          <a:bodyPr wrap="square" lIns="0" tIns="0" rIns="0" bIns="0" rtlCol="0" anchor="t"/>
          <a:lstStyle>
            <a:lvl1pPr algn="l" indent="0" marL="0">
              <a:lnSpc>
                <a:spcPct val="115000"/>
              </a:lnSpc>
              <a:buNone/>
              <a:defRPr lang="en-US" sz="3400" dirty="0">
                <a:solidFill>
                  <a:srgbClr val="16232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601258"/>
            <a:ext cx="10566400" cy="4443942"/>
          </a:xfrm>
          <a:prstGeom prst="rect">
            <a:avLst/>
          </a:prstGeom>
          <a:noFill/>
          <a:ln/>
        </p:spPr>
        <p:txBody>
          <a:bodyPr wrap="square" lIns="0" tIns="0" rIns="0" bIns="0" rtlCol="0" anchor="t"/>
          <a:lstStyle>
            <a:lvl1pPr algn="l" indent="0" marL="0">
              <a:lnSpc>
                <a:spcPct val="140000"/>
              </a:lnSpc>
              <a:buNone/>
              <a:defRPr lang="en-US" sz="1600" dirty="0">
                <a:solidFill>
                  <a:srgbClr val="1623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0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83658"/>
          </a:xfrm>
          <a:prstGeom prst="rect">
            <a:avLst/>
          </a:prstGeom>
          <a:noFill/>
          <a:ln/>
        </p:spPr>
        <p:txBody>
          <a:bodyPr wrap="square" lIns="0" tIns="0" rIns="0" bIns="0" rtlCol="0" anchor="t"/>
          <a:lstStyle>
            <a:lvl1pPr algn="l" indent="0" marL="0">
              <a:lnSpc>
                <a:spcPct val="115000"/>
              </a:lnSpc>
              <a:buNone/>
              <a:defRPr lang="en-US" sz="3400" dirty="0">
                <a:solidFill>
                  <a:srgbClr val="16232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601258"/>
            <a:ext cx="10566400" cy="4443942"/>
          </a:xfrm>
          <a:prstGeom prst="rect">
            <a:avLst/>
          </a:prstGeom>
          <a:noFill/>
          <a:ln/>
        </p:spPr>
        <p:txBody>
          <a:bodyPr wrap="square" lIns="0" tIns="0" rIns="0" bIns="0" rtlCol="0" anchor="t"/>
          <a:lstStyle>
            <a:lvl1pPr algn="l" indent="0" marL="0">
              <a:lnSpc>
                <a:spcPct val="140000"/>
              </a:lnSpc>
              <a:buNone/>
              <a:defRPr lang="en-US" sz="1600" dirty="0">
                <a:solidFill>
                  <a:srgbClr val="1623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9A0DA"/>
                </a:solidFill>
                <a:latin typeface="IBM Plex Sans" pitchFamily="34" charset="0"/>
                <a:ea typeface="IBM Plex Sans" pitchFamily="34" charset="-122"/>
                <a:cs typeface="IBM Plex Sans" pitchFamily="34" charset="-120"/>
              </a:rPr>
              <a:t>Personnel competency management in the security laboratory</a:t>
            </a:r>
            <a:endParaRPr lang="en-US" sz="1300" dirty="0"/>
          </a:p>
        </p:txBody>
      </p:sp>
      <p:sp>
        <p:nvSpPr>
          <p:cNvPr id="3" name="Text 1"/>
          <p:cNvSpPr/>
          <p:nvPr>
            <p:ph type="title"/>
          </p:nvPr>
        </p:nvSpPr>
        <p:spPr>
          <a:xfrm>
            <a:off x="812800" y="1397318"/>
            <a:ext cx="10883392" cy="1787102"/>
          </a:xfrm>
          <a:prstGeom prst="rect">
            <a:avLst/>
          </a:prstGeom>
          <a:noFill/>
          <a:ln/>
        </p:spPr>
        <p:txBody>
          <a:bodyPr wrap="square" lIns="0" tIns="0" rIns="0" bIns="0" rtlCol="0" anchor="t">
            <a:normAutofit/>
          </a:bodyPr>
          <a:lstStyle/>
          <a:p>
            <a:pPr algn="l" indent="0" marL="0">
              <a:lnSpc>
                <a:spcPts val="6936"/>
              </a:lnSpc>
              <a:buNone/>
            </a:pPr>
            <a:r>
              <a:rPr lang="en-US" sz="6800" b="0" i="0" spc="-150" kern="0" dirty="0">
                <a:solidFill>
                  <a:srgbClr val="F2F0EA"/>
                </a:solidFill>
                <a:latin typeface="Source Serif 4" pitchFamily="18" charset="0"/>
                <a:ea typeface="Source Serif 4" pitchFamily="18" charset="-122"/>
                <a:cs typeface="Source Serif 4" pitchFamily="18" charset="-120"/>
              </a:rPr>
              <a:t>Competence,</a:t>
            </a:r>
            <a:endParaRPr lang="en-US" sz="6800" dirty="0"/>
          </a:p>
          <a:p>
            <a:pPr algn="l" indent="0" marL="0">
              <a:lnSpc>
                <a:spcPts val="6936"/>
              </a:lnSpc>
              <a:buNone/>
            </a:pPr>
            <a:r>
              <a:rPr lang="en-US" sz="6800" b="0" i="0" spc="-150" kern="0" dirty="0">
                <a:solidFill>
                  <a:srgbClr val="F2F0EA"/>
                </a:solidFill>
                <a:latin typeface="Source Serif 4" pitchFamily="18" charset="0"/>
                <a:ea typeface="Source Serif 4" pitchFamily="18" charset="-122"/>
                <a:cs typeface="Source Serif 4" pitchFamily="18" charset="-120"/>
              </a:rPr>
              <a:t>Measured</a:t>
            </a:r>
            <a:endParaRPr lang="en-US" sz="6800" dirty="0"/>
          </a:p>
        </p:txBody>
      </p:sp>
      <p:sp>
        <p:nvSpPr>
          <p:cNvPr id="4" name="Text 2"/>
          <p:cNvSpPr/>
          <p:nvPr/>
        </p:nvSpPr>
        <p:spPr>
          <a:xfrm>
            <a:off x="812800" y="3387619"/>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A7BAC0"/>
                </a:solidFill>
                <a:latin typeface="IBM Plex Sans" pitchFamily="34" charset="0"/>
                <a:ea typeface="IBM Plex Sans" pitchFamily="34" charset="-122"/>
                <a:cs typeface="IBM Plex Sans" pitchFamily="34" charset="-120"/>
              </a:rPr>
              <a:t>How the laboratory decides who can be put on which work, and what that confidence actually rests on.</a:t>
            </a:r>
            <a:endParaRPr lang="en-US" sz="2000" dirty="0"/>
          </a:p>
        </p:txBody>
      </p:sp>
      <p:sp>
        <p:nvSpPr>
          <p:cNvPr id="5" name="Shape 3"/>
          <p:cNvSpPr/>
          <p:nvPr/>
        </p:nvSpPr>
        <p:spPr>
          <a:xfrm>
            <a:off x="812800" y="4429971"/>
            <a:ext cx="1910080" cy="0"/>
          </a:xfrm>
          <a:prstGeom prst="line">
            <a:avLst/>
          </a:prstGeom>
          <a:noFill/>
          <a:ln w="6350">
            <a:solidFill>
              <a:srgbClr val="35454D"/>
            </a:solidFill>
            <a:prstDash val="solid"/>
          </a:ln>
        </p:spPr>
      </p:sp>
      <p:sp>
        <p:nvSpPr>
          <p:cNvPr id="6" name="Text 4"/>
          <p:cNvSpPr/>
          <p:nvPr/>
        </p:nvSpPr>
        <p:spPr>
          <a:xfrm>
            <a:off x="812800" y="4585546"/>
            <a:ext cx="1967382"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F2F0EA"/>
                </a:solidFill>
                <a:latin typeface="Source Serif 4" pitchFamily="18" charset="0"/>
                <a:ea typeface="Source Serif 4" pitchFamily="18" charset="-122"/>
                <a:cs typeface="Source Serif 4" pitchFamily="18" charset="-120"/>
              </a:rPr>
              <a:t>278</a:t>
            </a:r>
            <a:endParaRPr lang="en-US" sz="3400" dirty="0"/>
          </a:p>
        </p:txBody>
      </p:sp>
      <p:sp>
        <p:nvSpPr>
          <p:cNvPr id="7" name="Text 5"/>
          <p:cNvSpPr/>
          <p:nvPr/>
        </p:nvSpPr>
        <p:spPr>
          <a:xfrm>
            <a:off x="812800" y="5080846"/>
            <a:ext cx="19673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assessable skills</a:t>
            </a:r>
            <a:endParaRPr lang="en-US" sz="1200" dirty="0"/>
          </a:p>
        </p:txBody>
      </p:sp>
      <p:sp>
        <p:nvSpPr>
          <p:cNvPr id="8" name="Shape 6"/>
          <p:cNvSpPr/>
          <p:nvPr/>
        </p:nvSpPr>
        <p:spPr>
          <a:xfrm>
            <a:off x="2976880" y="4429971"/>
            <a:ext cx="1910080" cy="0"/>
          </a:xfrm>
          <a:prstGeom prst="line">
            <a:avLst/>
          </a:prstGeom>
          <a:noFill/>
          <a:ln w="6350">
            <a:solidFill>
              <a:srgbClr val="35454D"/>
            </a:solidFill>
            <a:prstDash val="solid"/>
          </a:ln>
        </p:spPr>
      </p:sp>
      <p:sp>
        <p:nvSpPr>
          <p:cNvPr id="9" name="Text 7"/>
          <p:cNvSpPr/>
          <p:nvPr/>
        </p:nvSpPr>
        <p:spPr>
          <a:xfrm>
            <a:off x="2976880" y="4585546"/>
            <a:ext cx="1967382"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F2F0EA"/>
                </a:solidFill>
                <a:latin typeface="Source Serif 4" pitchFamily="18" charset="0"/>
                <a:ea typeface="Source Serif 4" pitchFamily="18" charset="-122"/>
                <a:cs typeface="Source Serif 4" pitchFamily="18" charset="-120"/>
              </a:rPr>
              <a:t>12</a:t>
            </a:r>
            <a:endParaRPr lang="en-US" sz="3400" dirty="0"/>
          </a:p>
        </p:txBody>
      </p:sp>
      <p:sp>
        <p:nvSpPr>
          <p:cNvPr id="10" name="Text 8"/>
          <p:cNvSpPr/>
          <p:nvPr/>
        </p:nvSpPr>
        <p:spPr>
          <a:xfrm>
            <a:off x="2976880" y="5080846"/>
            <a:ext cx="19673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technical domains</a:t>
            </a:r>
            <a:endParaRPr lang="en-US" sz="1200" dirty="0"/>
          </a:p>
        </p:txBody>
      </p:sp>
      <p:sp>
        <p:nvSpPr>
          <p:cNvPr id="11" name="Shape 9"/>
          <p:cNvSpPr/>
          <p:nvPr/>
        </p:nvSpPr>
        <p:spPr>
          <a:xfrm>
            <a:off x="5140960" y="4429971"/>
            <a:ext cx="1910080" cy="0"/>
          </a:xfrm>
          <a:prstGeom prst="line">
            <a:avLst/>
          </a:prstGeom>
          <a:noFill/>
          <a:ln w="6350">
            <a:solidFill>
              <a:srgbClr val="35454D"/>
            </a:solidFill>
            <a:prstDash val="solid"/>
          </a:ln>
        </p:spPr>
      </p:sp>
      <p:sp>
        <p:nvSpPr>
          <p:cNvPr id="12" name="Text 10"/>
          <p:cNvSpPr/>
          <p:nvPr/>
        </p:nvSpPr>
        <p:spPr>
          <a:xfrm>
            <a:off x="5140960" y="4585546"/>
            <a:ext cx="1967382"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F2F0EA"/>
                </a:solidFill>
                <a:latin typeface="Source Serif 4" pitchFamily="18" charset="0"/>
                <a:ea typeface="Source Serif 4" pitchFamily="18" charset="-122"/>
                <a:cs typeface="Source Serif 4" pitchFamily="18" charset="-120"/>
              </a:rPr>
              <a:t>11</a:t>
            </a:r>
            <a:endParaRPr lang="en-US" sz="3400" dirty="0"/>
          </a:p>
        </p:txBody>
      </p:sp>
      <p:sp>
        <p:nvSpPr>
          <p:cNvPr id="13" name="Text 11"/>
          <p:cNvSpPr/>
          <p:nvPr/>
        </p:nvSpPr>
        <p:spPr>
          <a:xfrm>
            <a:off x="5140960" y="5080846"/>
            <a:ext cx="19673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career ladders</a:t>
            </a:r>
            <a:endParaRPr lang="en-US" sz="1200" dirty="0"/>
          </a:p>
        </p:txBody>
      </p:sp>
      <p:sp>
        <p:nvSpPr>
          <p:cNvPr id="14" name="Shape 12"/>
          <p:cNvSpPr/>
          <p:nvPr/>
        </p:nvSpPr>
        <p:spPr>
          <a:xfrm>
            <a:off x="7305040" y="4429971"/>
            <a:ext cx="1910080" cy="0"/>
          </a:xfrm>
          <a:prstGeom prst="line">
            <a:avLst/>
          </a:prstGeom>
          <a:noFill/>
          <a:ln w="6350">
            <a:solidFill>
              <a:srgbClr val="35454D"/>
            </a:solidFill>
            <a:prstDash val="solid"/>
          </a:ln>
        </p:spPr>
      </p:sp>
      <p:sp>
        <p:nvSpPr>
          <p:cNvPr id="15" name="Text 13"/>
          <p:cNvSpPr/>
          <p:nvPr/>
        </p:nvSpPr>
        <p:spPr>
          <a:xfrm>
            <a:off x="7305040" y="4585546"/>
            <a:ext cx="1967382"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F2F0EA"/>
                </a:solidFill>
                <a:latin typeface="Source Serif 4" pitchFamily="18" charset="0"/>
                <a:ea typeface="Source Serif 4" pitchFamily="18" charset="-122"/>
                <a:cs typeface="Source Serif 4" pitchFamily="18" charset="-120"/>
              </a:rPr>
              <a:t>17</a:t>
            </a:r>
            <a:endParaRPr lang="en-US" sz="3400" dirty="0"/>
          </a:p>
        </p:txBody>
      </p:sp>
      <p:sp>
        <p:nvSpPr>
          <p:cNvPr id="16" name="Text 14"/>
          <p:cNvSpPr/>
          <p:nvPr/>
        </p:nvSpPr>
        <p:spPr>
          <a:xfrm>
            <a:off x="7305040" y="5080846"/>
            <a:ext cx="19673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lab services</a:t>
            </a:r>
            <a:endParaRPr lang="en-US" sz="1200" dirty="0"/>
          </a:p>
        </p:txBody>
      </p:sp>
      <p:sp>
        <p:nvSpPr>
          <p:cNvPr id="17" name="Shape 15"/>
          <p:cNvSpPr/>
          <p:nvPr/>
        </p:nvSpPr>
        <p:spPr>
          <a:xfrm>
            <a:off x="9469120" y="4429971"/>
            <a:ext cx="1910080" cy="0"/>
          </a:xfrm>
          <a:prstGeom prst="line">
            <a:avLst/>
          </a:prstGeom>
          <a:noFill/>
          <a:ln w="6350">
            <a:solidFill>
              <a:srgbClr val="35454D"/>
            </a:solidFill>
            <a:prstDash val="solid"/>
          </a:ln>
        </p:spPr>
      </p:sp>
      <p:sp>
        <p:nvSpPr>
          <p:cNvPr id="18" name="Text 16"/>
          <p:cNvSpPr/>
          <p:nvPr/>
        </p:nvSpPr>
        <p:spPr>
          <a:xfrm>
            <a:off x="9469120" y="4585546"/>
            <a:ext cx="1967382" cy="457200"/>
          </a:xfrm>
          <a:prstGeom prst="rect">
            <a:avLst/>
          </a:prstGeom>
          <a:noFill/>
          <a:ln/>
        </p:spPr>
        <p:txBody>
          <a:bodyPr wrap="square" lIns="0" tIns="0" rIns="0" bIns="0" rtlCol="0" anchor="t">
            <a:normAutofit/>
          </a:bodyPr>
          <a:lstStyle/>
          <a:p>
            <a:pPr algn="l" indent="0" marL="0">
              <a:lnSpc>
                <a:spcPts val="3400"/>
              </a:lnSpc>
              <a:buNone/>
            </a:pPr>
            <a:r>
              <a:rPr lang="en-US" sz="3400" dirty="0">
                <a:solidFill>
                  <a:srgbClr val="F2F0EA"/>
                </a:solidFill>
                <a:latin typeface="Source Serif 4" pitchFamily="18" charset="0"/>
                <a:ea typeface="Source Serif 4" pitchFamily="18" charset="-122"/>
                <a:cs typeface="Source Serif 4" pitchFamily="18" charset="-120"/>
              </a:rPr>
              <a:t>140</a:t>
            </a:r>
            <a:endParaRPr lang="en-US" sz="3400" dirty="0"/>
          </a:p>
        </p:txBody>
      </p:sp>
      <p:sp>
        <p:nvSpPr>
          <p:cNvPr id="19" name="Text 17"/>
          <p:cNvSpPr/>
          <p:nvPr/>
        </p:nvSpPr>
        <p:spPr>
          <a:xfrm>
            <a:off x="9469120" y="5080846"/>
            <a:ext cx="19673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standards cited</a:t>
            </a:r>
            <a:endParaRPr lang="en-US" sz="1200" dirty="0"/>
          </a:p>
        </p:txBody>
      </p:sp>
      <p:sp>
        <p:nvSpPr>
          <p:cNvPr id="20" name="Shape 18"/>
          <p:cNvSpPr/>
          <p:nvPr/>
        </p:nvSpPr>
        <p:spPr>
          <a:xfrm>
            <a:off x="812800" y="5650865"/>
            <a:ext cx="10566400" cy="0"/>
          </a:xfrm>
          <a:prstGeom prst="line">
            <a:avLst/>
          </a:prstGeom>
          <a:noFill/>
          <a:ln w="6350">
            <a:solidFill>
              <a:srgbClr val="35454D"/>
            </a:solidFill>
            <a:prstDash val="solid"/>
          </a:ln>
        </p:spPr>
      </p:sp>
      <p:sp>
        <p:nvSpPr>
          <p:cNvPr id="21" name="Text 19"/>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A briefing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What the system is</a:t>
            </a:r>
            <a:endParaRPr lang="en-US" sz="3400" dirty="0"/>
          </a:p>
        </p:txBody>
      </p:sp>
      <p:sp>
        <p:nvSpPr>
          <p:cNvPr id="3" name="Shape 1"/>
          <p:cNvSpPr/>
          <p:nvPr/>
        </p:nvSpPr>
        <p:spPr>
          <a:xfrm>
            <a:off x="815975" y="2214563"/>
            <a:ext cx="2940050" cy="2433002"/>
          </a:xfrm>
          <a:prstGeom prst="roundRect">
            <a:avLst>
              <a:gd name="adj" fmla="val 3001"/>
            </a:avLst>
          </a:prstGeom>
          <a:solidFill>
            <a:srgbClr val="FBFAF6"/>
          </a:solidFill>
          <a:ln w="6350">
            <a:solidFill>
              <a:srgbClr val="D3D0C6"/>
            </a:solidFill>
            <a:prstDash val="solid"/>
          </a:ln>
        </p:spPr>
      </p:sp>
      <p:sp>
        <p:nvSpPr>
          <p:cNvPr id="4" name="Text 2"/>
          <p:cNvSpPr/>
          <p:nvPr/>
        </p:nvSpPr>
        <p:spPr>
          <a:xfrm>
            <a:off x="1073150" y="2471738"/>
            <a:ext cx="24984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4A8C"/>
                </a:solidFill>
                <a:latin typeface="IBM Plex Sans" pitchFamily="34" charset="0"/>
                <a:ea typeface="IBM Plex Sans" pitchFamily="34" charset="-122"/>
                <a:cs typeface="IBM Plex Sans" pitchFamily="34" charset="-120"/>
              </a:rPr>
              <a:t>1</a:t>
            </a:r>
            <a:endParaRPr lang="en-US" sz="1200" dirty="0"/>
          </a:p>
        </p:txBody>
      </p:sp>
      <p:sp>
        <p:nvSpPr>
          <p:cNvPr id="5" name="Text 3"/>
          <p:cNvSpPr/>
          <p:nvPr/>
        </p:nvSpPr>
        <p:spPr>
          <a:xfrm>
            <a:off x="1073150" y="2786697"/>
            <a:ext cx="249847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32A"/>
                </a:solidFill>
                <a:latin typeface="IBM Plex Sans" pitchFamily="34" charset="0"/>
                <a:ea typeface="IBM Plex Sans" pitchFamily="34" charset="-122"/>
                <a:cs typeface="IBM Plex Sans" pitchFamily="34" charset="-120"/>
              </a:rPr>
              <a:t>The taxonomy</a:t>
            </a:r>
            <a:endParaRPr lang="en-US" sz="1700" dirty="0"/>
          </a:p>
        </p:txBody>
      </p:sp>
      <p:sp>
        <p:nvSpPr>
          <p:cNvPr id="6" name="Text 4"/>
          <p:cNvSpPr/>
          <p:nvPr/>
        </p:nvSpPr>
        <p:spPr>
          <a:xfrm>
            <a:off x="1073150" y="3147378"/>
            <a:ext cx="2498471" cy="1268413"/>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5646B"/>
                </a:solidFill>
                <a:latin typeface="IBM Plex Sans" pitchFamily="34" charset="0"/>
                <a:ea typeface="IBM Plex Sans" pitchFamily="34" charset="-122"/>
                <a:cs typeface="IBM Plex Sans" pitchFamily="34" charset="-120"/>
              </a:rPr>
              <a:t>278 named activities the laboratory can be asked to perform, each with written criteria at six levels of proficiency.</a:t>
            </a:r>
            <a:endParaRPr lang="en-US" sz="1350" dirty="0"/>
          </a:p>
        </p:txBody>
      </p:sp>
      <p:pic>
        <p:nvPicPr>
          <p:cNvPr id="7" name="Image 0" descr="connector">    </p:cNvPr>
          <p:cNvPicPr>
            <a:picLocks noChangeAspect="1"/>
          </p:cNvPicPr>
          <p:nvPr/>
        </p:nvPicPr>
        <p:blipFill>
          <a:blip r:embed="rId1"/>
          <a:srcRect l="0" r="0" t="0" b="0"/>
          <a:stretch/>
        </p:blipFill>
        <p:spPr>
          <a:xfrm>
            <a:off x="3930650" y="3380211"/>
            <a:ext cx="520700" cy="101600"/>
          </a:xfrm>
          <a:prstGeom prst="rect">
            <a:avLst/>
          </a:prstGeom>
        </p:spPr>
      </p:pic>
      <p:sp>
        <p:nvSpPr>
          <p:cNvPr id="8" name="Shape 5"/>
          <p:cNvSpPr/>
          <p:nvPr/>
        </p:nvSpPr>
        <p:spPr>
          <a:xfrm>
            <a:off x="4625975" y="2214563"/>
            <a:ext cx="2940050" cy="2433002"/>
          </a:xfrm>
          <a:prstGeom prst="roundRect">
            <a:avLst>
              <a:gd name="adj" fmla="val 3001"/>
            </a:avLst>
          </a:prstGeom>
          <a:solidFill>
            <a:srgbClr val="FBFAF6"/>
          </a:solidFill>
          <a:ln w="6350">
            <a:solidFill>
              <a:srgbClr val="D3D0C6"/>
            </a:solidFill>
            <a:prstDash val="solid"/>
          </a:ln>
        </p:spPr>
      </p:sp>
      <p:sp>
        <p:nvSpPr>
          <p:cNvPr id="9" name="Text 6"/>
          <p:cNvSpPr/>
          <p:nvPr/>
        </p:nvSpPr>
        <p:spPr>
          <a:xfrm>
            <a:off x="4883150" y="2471738"/>
            <a:ext cx="24984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4A8C"/>
                </a:solidFill>
                <a:latin typeface="IBM Plex Sans" pitchFamily="34" charset="0"/>
                <a:ea typeface="IBM Plex Sans" pitchFamily="34" charset="-122"/>
                <a:cs typeface="IBM Plex Sans" pitchFamily="34" charset="-120"/>
              </a:rPr>
              <a:t>2</a:t>
            </a:r>
            <a:endParaRPr lang="en-US" sz="1200" dirty="0"/>
          </a:p>
        </p:txBody>
      </p:sp>
      <p:sp>
        <p:nvSpPr>
          <p:cNvPr id="10" name="Text 7"/>
          <p:cNvSpPr/>
          <p:nvPr/>
        </p:nvSpPr>
        <p:spPr>
          <a:xfrm>
            <a:off x="4883150" y="2786697"/>
            <a:ext cx="249847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32A"/>
                </a:solidFill>
                <a:latin typeface="IBM Plex Sans" pitchFamily="34" charset="0"/>
                <a:ea typeface="IBM Plex Sans" pitchFamily="34" charset="-122"/>
                <a:cs typeface="IBM Plex Sans" pitchFamily="34" charset="-120"/>
              </a:rPr>
              <a:t>The record</a:t>
            </a:r>
            <a:endParaRPr lang="en-US" sz="1700" dirty="0"/>
          </a:p>
        </p:txBody>
      </p:sp>
      <p:sp>
        <p:nvSpPr>
          <p:cNvPr id="11" name="Text 8"/>
          <p:cNvSpPr/>
          <p:nvPr/>
        </p:nvSpPr>
        <p:spPr>
          <a:xfrm>
            <a:off x="4883150" y="3147378"/>
            <a:ext cx="2498471" cy="1268413"/>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5646B"/>
                </a:solidFill>
                <a:latin typeface="IBM Plex Sans" pitchFamily="34" charset="0"/>
                <a:ea typeface="IBM Plex Sans" pitchFamily="34" charset="-122"/>
                <a:cs typeface="IBM Plex Sans" pitchFamily="34" charset="-120"/>
              </a:rPr>
              <a:t>One dated, attributable assessment per person per activity, holding the evidence it rests on and the authorization it carries.</a:t>
            </a:r>
            <a:endParaRPr lang="en-US" sz="1350" dirty="0"/>
          </a:p>
        </p:txBody>
      </p:sp>
      <p:pic>
        <p:nvPicPr>
          <p:cNvPr id="12" name="Image 1" descr="connector">    </p:cNvPr>
          <p:cNvPicPr>
            <a:picLocks noChangeAspect="1"/>
          </p:cNvPicPr>
          <p:nvPr/>
        </p:nvPicPr>
        <p:blipFill>
          <a:blip r:embed="rId2"/>
          <a:srcRect l="0" r="0" t="0" b="0"/>
          <a:stretch/>
        </p:blipFill>
        <p:spPr>
          <a:xfrm>
            <a:off x="7740650" y="3380211"/>
            <a:ext cx="520700" cy="101600"/>
          </a:xfrm>
          <a:prstGeom prst="rect">
            <a:avLst/>
          </a:prstGeom>
        </p:spPr>
      </p:pic>
      <p:sp>
        <p:nvSpPr>
          <p:cNvPr id="13" name="Shape 9"/>
          <p:cNvSpPr/>
          <p:nvPr/>
        </p:nvSpPr>
        <p:spPr>
          <a:xfrm>
            <a:off x="8435975" y="2214563"/>
            <a:ext cx="2940050" cy="2433002"/>
          </a:xfrm>
          <a:prstGeom prst="roundRect">
            <a:avLst>
              <a:gd name="adj" fmla="val 3001"/>
            </a:avLst>
          </a:prstGeom>
          <a:solidFill>
            <a:srgbClr val="FBFAF6"/>
          </a:solidFill>
          <a:ln w="6350">
            <a:solidFill>
              <a:srgbClr val="6B4A8C"/>
            </a:solidFill>
            <a:prstDash val="solid"/>
          </a:ln>
        </p:spPr>
      </p:sp>
      <p:sp>
        <p:nvSpPr>
          <p:cNvPr id="14" name="Text 10"/>
          <p:cNvSpPr/>
          <p:nvPr/>
        </p:nvSpPr>
        <p:spPr>
          <a:xfrm>
            <a:off x="8693150" y="2471738"/>
            <a:ext cx="24984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4A8C"/>
                </a:solidFill>
                <a:latin typeface="IBM Plex Sans" pitchFamily="34" charset="0"/>
                <a:ea typeface="IBM Plex Sans" pitchFamily="34" charset="-122"/>
                <a:cs typeface="IBM Plex Sans" pitchFamily="34" charset="-120"/>
              </a:rPr>
              <a:t>3</a:t>
            </a:r>
            <a:endParaRPr lang="en-US" sz="1200" dirty="0"/>
          </a:p>
        </p:txBody>
      </p:sp>
      <p:sp>
        <p:nvSpPr>
          <p:cNvPr id="15" name="Text 11"/>
          <p:cNvSpPr/>
          <p:nvPr/>
        </p:nvSpPr>
        <p:spPr>
          <a:xfrm>
            <a:off x="8693150" y="2786697"/>
            <a:ext cx="249847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32A"/>
                </a:solidFill>
                <a:latin typeface="IBM Plex Sans" pitchFamily="34" charset="0"/>
                <a:ea typeface="IBM Plex Sans" pitchFamily="34" charset="-122"/>
                <a:cs typeface="IBM Plex Sans" pitchFamily="34" charset="-120"/>
              </a:rPr>
              <a:t>The decisions</a:t>
            </a:r>
            <a:endParaRPr lang="en-US" sz="1700" dirty="0"/>
          </a:p>
        </p:txBody>
      </p:sp>
      <p:sp>
        <p:nvSpPr>
          <p:cNvPr id="16" name="Text 12"/>
          <p:cNvSpPr/>
          <p:nvPr/>
        </p:nvSpPr>
        <p:spPr>
          <a:xfrm>
            <a:off x="8693150" y="3147378"/>
            <a:ext cx="2498471" cy="1019810"/>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5646B"/>
                </a:solidFill>
                <a:latin typeface="IBM Plex Sans" pitchFamily="34" charset="0"/>
                <a:ea typeface="IBM Plex Sans" pitchFamily="34" charset="-122"/>
                <a:cs typeface="IBM Plex Sans" pitchFamily="34" charset="-120"/>
              </a:rPr>
              <a:t>Who can staff a job, what each person needs next, and which services rest on a single qualified person.</a:t>
            </a:r>
            <a:endParaRPr lang="en-US" sz="1350" dirty="0"/>
          </a:p>
        </p:txBody>
      </p:sp>
      <p:sp>
        <p:nvSpPr>
          <p:cNvPr id="17" name="Text 13"/>
          <p:cNvSpPr/>
          <p:nvPr/>
        </p:nvSpPr>
        <p:spPr>
          <a:xfrm>
            <a:off x="812800" y="5565775"/>
            <a:ext cx="990600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The first two stages are discipline. The third is the one the laboratory actually opens every week.</a:t>
            </a:r>
            <a:endParaRPr lang="en-US" sz="1500" dirty="0"/>
          </a:p>
        </p:txBody>
      </p:sp>
      <p:sp>
        <p:nvSpPr>
          <p:cNvPr id="18" name="Text 14"/>
          <p:cNvSpPr/>
          <p:nvPr/>
        </p:nvSpPr>
        <p:spPr>
          <a:xfrm>
            <a:off x="812800" y="6238239"/>
            <a:ext cx="76301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Overview</a:t>
            </a:r>
            <a:endParaRPr lang="en-US" sz="1200" dirty="0"/>
          </a:p>
        </p:txBody>
      </p:sp>
      <p:sp>
        <p:nvSpPr>
          <p:cNvPr id="19" name="Text 15"/>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B4A8C"/>
        </a:solidFill>
      </p:bgPr>
    </p:bg>
    <p:spTree>
      <p:nvGrpSpPr>
        <p:cNvPr id="1" name=""/>
        <p:cNvGrpSpPr/>
        <p:nvPr/>
      </p:nvGrpSpPr>
      <p:grpSpPr>
        <a:xfrm>
          <a:off x="0" y="0"/>
          <a:ext cx="0" cy="0"/>
          <a:chOff x="0" y="0"/>
          <a:chExt cx="0" cy="0"/>
        </a:xfrm>
      </p:grpSpPr>
      <p:sp>
        <p:nvSpPr>
          <p:cNvPr id="2" name="Text 0"/>
          <p:cNvSpPr/>
          <p:nvPr/>
        </p:nvSpPr>
        <p:spPr>
          <a:xfrm>
            <a:off x="812800" y="2171064"/>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E0D4F0"/>
                </a:solidFill>
                <a:latin typeface="IBM Plex Sans" pitchFamily="34" charset="0"/>
                <a:ea typeface="IBM Plex Sans" pitchFamily="34" charset="-122"/>
                <a:cs typeface="IBM Plex Sans" pitchFamily="34" charset="-120"/>
              </a:rPr>
              <a:t>Three questions, answered from one record</a:t>
            </a:r>
            <a:endParaRPr lang="en-US" sz="1300" dirty="0"/>
          </a:p>
        </p:txBody>
      </p:sp>
      <p:sp>
        <p:nvSpPr>
          <p:cNvPr id="3" name="Text 1"/>
          <p:cNvSpPr/>
          <p:nvPr/>
        </p:nvSpPr>
        <p:spPr>
          <a:xfrm>
            <a:off x="812800" y="2732405"/>
            <a:ext cx="3418501" cy="749300"/>
          </a:xfrm>
          <a:prstGeom prst="rect">
            <a:avLst/>
          </a:prstGeom>
          <a:noFill/>
          <a:ln/>
        </p:spPr>
        <p:txBody>
          <a:bodyPr wrap="square" lIns="0" tIns="0" rIns="0" bIns="0" rtlCol="0" anchor="t">
            <a:normAutofit/>
          </a:bodyPr>
          <a:lstStyle/>
          <a:p>
            <a:pPr algn="l" indent="0" marL="0">
              <a:lnSpc>
                <a:spcPts val="2850"/>
              </a:lnSpc>
              <a:buNone/>
            </a:pPr>
            <a:r>
              <a:rPr lang="en-US" sz="2500" dirty="0">
                <a:solidFill>
                  <a:srgbClr val="F2F0EA"/>
                </a:solidFill>
                <a:latin typeface="Source Serif 4" pitchFamily="18" charset="0"/>
                <a:ea typeface="Source Serif 4" pitchFamily="18" charset="-122"/>
                <a:cs typeface="Source Serif 4" pitchFamily="18" charset="-120"/>
              </a:rPr>
              <a:t>Who can we put on this work?</a:t>
            </a:r>
            <a:endParaRPr lang="en-US" sz="2500" dirty="0"/>
          </a:p>
        </p:txBody>
      </p:sp>
      <p:pic>
        <p:nvPicPr>
          <p:cNvPr id="4" name="Image 0" descr="line">    </p:cNvPr>
          <p:cNvPicPr>
            <a:picLocks noChangeAspect="1"/>
          </p:cNvPicPr>
          <p:nvPr/>
        </p:nvPicPr>
        <p:blipFill>
          <a:blip r:embed="rId1"/>
          <a:srcRect l="0" r="0" t="0" b="0"/>
          <a:stretch/>
        </p:blipFill>
        <p:spPr>
          <a:xfrm>
            <a:off x="812800" y="3583305"/>
            <a:ext cx="635000" cy="19050"/>
          </a:xfrm>
          <a:prstGeom prst="rect">
            <a:avLst/>
          </a:prstGeom>
        </p:spPr>
      </p:pic>
      <p:sp>
        <p:nvSpPr>
          <p:cNvPr id="5" name="Text 2"/>
          <p:cNvSpPr/>
          <p:nvPr/>
        </p:nvSpPr>
        <p:spPr>
          <a:xfrm>
            <a:off x="812800" y="3729355"/>
            <a:ext cx="3418501"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0D4F0"/>
                </a:solidFill>
                <a:latin typeface="IBM Plex Sans" pitchFamily="34" charset="0"/>
                <a:ea typeface="IBM Plex Sans" pitchFamily="34" charset="-122"/>
                <a:cs typeface="IBM Plex Sans" pitchFamily="34" charset="-120"/>
              </a:rPr>
              <a:t>Asked every time an engagement lands, and again whenever somebody is unavailable. It has to be answerable before the work is promised, not after.</a:t>
            </a:r>
            <a:endParaRPr lang="en-US" sz="1300" dirty="0"/>
          </a:p>
        </p:txBody>
      </p:sp>
      <p:sp>
        <p:nvSpPr>
          <p:cNvPr id="6" name="Text 3"/>
          <p:cNvSpPr/>
          <p:nvPr/>
        </p:nvSpPr>
        <p:spPr>
          <a:xfrm>
            <a:off x="4436533" y="2732405"/>
            <a:ext cx="3418501" cy="749300"/>
          </a:xfrm>
          <a:prstGeom prst="rect">
            <a:avLst/>
          </a:prstGeom>
          <a:noFill/>
          <a:ln/>
        </p:spPr>
        <p:txBody>
          <a:bodyPr wrap="square" lIns="0" tIns="0" rIns="0" bIns="0" rtlCol="0" anchor="t">
            <a:normAutofit/>
          </a:bodyPr>
          <a:lstStyle/>
          <a:p>
            <a:pPr algn="l" indent="0" marL="0">
              <a:lnSpc>
                <a:spcPts val="2850"/>
              </a:lnSpc>
              <a:buNone/>
            </a:pPr>
            <a:r>
              <a:rPr lang="en-US" sz="2500" dirty="0">
                <a:solidFill>
                  <a:srgbClr val="F2F0EA"/>
                </a:solidFill>
                <a:latin typeface="Source Serif 4" pitchFamily="18" charset="0"/>
                <a:ea typeface="Source Serif 4" pitchFamily="18" charset="-122"/>
                <a:cs typeface="Source Serif 4" pitchFamily="18" charset="-120"/>
              </a:rPr>
              <a:t>What makes us confident they can?</a:t>
            </a:r>
            <a:endParaRPr lang="en-US" sz="2500" dirty="0"/>
          </a:p>
        </p:txBody>
      </p:sp>
      <p:pic>
        <p:nvPicPr>
          <p:cNvPr id="7" name="Image 1" descr="line">    </p:cNvPr>
          <p:cNvPicPr>
            <a:picLocks noChangeAspect="1"/>
          </p:cNvPicPr>
          <p:nvPr/>
        </p:nvPicPr>
        <p:blipFill>
          <a:blip r:embed="rId2"/>
          <a:srcRect l="0" r="0" t="0" b="0"/>
          <a:stretch/>
        </p:blipFill>
        <p:spPr>
          <a:xfrm>
            <a:off x="4436533" y="3583305"/>
            <a:ext cx="635000" cy="19050"/>
          </a:xfrm>
          <a:prstGeom prst="rect">
            <a:avLst/>
          </a:prstGeom>
        </p:spPr>
      </p:pic>
      <p:sp>
        <p:nvSpPr>
          <p:cNvPr id="8" name="Text 4"/>
          <p:cNvSpPr/>
          <p:nvPr/>
        </p:nvSpPr>
        <p:spPr>
          <a:xfrm>
            <a:off x="4436533" y="3729355"/>
            <a:ext cx="3418501"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0D4F0"/>
                </a:solidFill>
                <a:latin typeface="IBM Plex Sans" pitchFamily="34" charset="0"/>
                <a:ea typeface="IBM Plex Sans" pitchFamily="34" charset="-122"/>
                <a:cs typeface="IBM Plex Sans" pitchFamily="34" charset="-120"/>
              </a:rPr>
              <a:t>Asked by clients, by partners who rely on our results, and by us. A job title is not an answer; a dated assessment against written criteria is.</a:t>
            </a:r>
            <a:endParaRPr lang="en-US" sz="1300" dirty="0"/>
          </a:p>
        </p:txBody>
      </p:sp>
      <p:sp>
        <p:nvSpPr>
          <p:cNvPr id="9" name="Text 5"/>
          <p:cNvSpPr/>
          <p:nvPr/>
        </p:nvSpPr>
        <p:spPr>
          <a:xfrm>
            <a:off x="8060267" y="2732405"/>
            <a:ext cx="3418501" cy="749300"/>
          </a:xfrm>
          <a:prstGeom prst="rect">
            <a:avLst/>
          </a:prstGeom>
          <a:noFill/>
          <a:ln/>
        </p:spPr>
        <p:txBody>
          <a:bodyPr wrap="square" lIns="0" tIns="0" rIns="0" bIns="0" rtlCol="0" anchor="t">
            <a:normAutofit/>
          </a:bodyPr>
          <a:lstStyle/>
          <a:p>
            <a:pPr algn="l" indent="0" marL="0">
              <a:lnSpc>
                <a:spcPts val="2850"/>
              </a:lnSpc>
              <a:buNone/>
            </a:pPr>
            <a:r>
              <a:rPr lang="en-US" sz="2500" dirty="0">
                <a:solidFill>
                  <a:srgbClr val="F2F0EA"/>
                </a:solidFill>
                <a:latin typeface="Source Serif 4" pitchFamily="18" charset="0"/>
                <a:ea typeface="Source Serif 4" pitchFamily="18" charset="-122"/>
                <a:cs typeface="Source Serif 4" pitchFamily="18" charset="-120"/>
              </a:rPr>
              <a:t>Where does this person go next?</a:t>
            </a:r>
            <a:endParaRPr lang="en-US" sz="2500" dirty="0"/>
          </a:p>
        </p:txBody>
      </p:sp>
      <p:pic>
        <p:nvPicPr>
          <p:cNvPr id="10" name="Image 2" descr="line">    </p:cNvPr>
          <p:cNvPicPr>
            <a:picLocks noChangeAspect="1"/>
          </p:cNvPicPr>
          <p:nvPr/>
        </p:nvPicPr>
        <p:blipFill>
          <a:blip r:embed="rId3"/>
          <a:srcRect l="0" r="0" t="0" b="0"/>
          <a:stretch/>
        </p:blipFill>
        <p:spPr>
          <a:xfrm>
            <a:off x="8060267" y="3583305"/>
            <a:ext cx="635000" cy="19050"/>
          </a:xfrm>
          <a:prstGeom prst="rect">
            <a:avLst/>
          </a:prstGeom>
        </p:spPr>
      </p:pic>
      <p:sp>
        <p:nvSpPr>
          <p:cNvPr id="11" name="Text 6"/>
          <p:cNvSpPr/>
          <p:nvPr/>
        </p:nvSpPr>
        <p:spPr>
          <a:xfrm>
            <a:off x="8060267" y="3729355"/>
            <a:ext cx="3418501"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0D4F0"/>
                </a:solidFill>
                <a:latin typeface="IBM Plex Sans" pitchFamily="34" charset="0"/>
                <a:ea typeface="IBM Plex Sans" pitchFamily="34" charset="-122"/>
                <a:cs typeface="IBM Plex Sans" pitchFamily="34" charset="-120"/>
              </a:rPr>
              <a:t>Asked at every review, and by the person themselves. The answer should be a named set of skills and a date, not an adjective.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What we want it to achieve</a:t>
            </a:r>
            <a:endParaRPr lang="en-US" sz="3400" dirty="0"/>
          </a:p>
        </p:txBody>
      </p:sp>
      <p:sp>
        <p:nvSpPr>
          <p:cNvPr id="3" name="Shape 1"/>
          <p:cNvSpPr/>
          <p:nvPr/>
        </p:nvSpPr>
        <p:spPr>
          <a:xfrm>
            <a:off x="819150" y="1969136"/>
            <a:ext cx="3348567" cy="2647633"/>
          </a:xfrm>
          <a:prstGeom prst="roundRect">
            <a:avLst>
              <a:gd name="adj" fmla="val 2638"/>
            </a:avLst>
          </a:prstGeom>
          <a:solidFill>
            <a:srgbClr val="FBFAF6"/>
          </a:solidFill>
          <a:ln w="12700">
            <a:solidFill>
              <a:srgbClr val="6B4A8C"/>
            </a:solidFill>
            <a:prstDash val="solid"/>
          </a:ln>
        </p:spPr>
      </p:sp>
      <p:pic>
        <p:nvPicPr>
          <p:cNvPr id="4" name="Image 0" descr="Users">    </p:cNvPr>
          <p:cNvPicPr>
            <a:picLocks noChangeAspect="1"/>
          </p:cNvPicPr>
          <p:nvPr/>
        </p:nvPicPr>
        <p:blipFill>
          <a:blip r:embed="rId1"/>
          <a:srcRect l="0" r="0" t="0" b="0"/>
          <a:stretch/>
        </p:blipFill>
        <p:spPr>
          <a:xfrm>
            <a:off x="1104900" y="2254886"/>
            <a:ext cx="330200" cy="330200"/>
          </a:xfrm>
          <a:prstGeom prst="rect">
            <a:avLst/>
          </a:prstGeom>
        </p:spPr>
      </p:pic>
      <p:sp>
        <p:nvSpPr>
          <p:cNvPr id="5" name="Text 2"/>
          <p:cNvSpPr/>
          <p:nvPr/>
        </p:nvSpPr>
        <p:spPr>
          <a:xfrm>
            <a:off x="1104900" y="2699386"/>
            <a:ext cx="28603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IBM Plex Sans" pitchFamily="34" charset="0"/>
                <a:ea typeface="IBM Plex Sans" pitchFamily="34" charset="-122"/>
                <a:cs typeface="IBM Plex Sans" pitchFamily="34" charset="-120"/>
              </a:rPr>
              <a:t>Staff projects</a:t>
            </a:r>
            <a:endParaRPr lang="en-US" sz="1800" dirty="0"/>
          </a:p>
        </p:txBody>
      </p:sp>
      <p:sp>
        <p:nvSpPr>
          <p:cNvPr id="6" name="Text 3"/>
          <p:cNvSpPr/>
          <p:nvPr/>
        </p:nvSpPr>
        <p:spPr>
          <a:xfrm>
            <a:off x="1104900" y="3088005"/>
            <a:ext cx="2860379" cy="1268413"/>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5646B"/>
                </a:solidFill>
                <a:latin typeface="IBM Plex Sans" pitchFamily="34" charset="0"/>
                <a:ea typeface="IBM Plex Sans" pitchFamily="34" charset="-122"/>
                <a:cs typeface="IBM Plex Sans" pitchFamily="34" charset="-120"/>
              </a:rPr>
              <a:t>Every service we sell lists the skills it needs at the levels it needs them. Matching that against assessed people tells us who can take a job, and where only one person could.</a:t>
            </a:r>
            <a:endParaRPr lang="en-US" sz="1350" dirty="0"/>
          </a:p>
        </p:txBody>
      </p:sp>
      <p:sp>
        <p:nvSpPr>
          <p:cNvPr id="7" name="Shape 4"/>
          <p:cNvSpPr/>
          <p:nvPr/>
        </p:nvSpPr>
        <p:spPr>
          <a:xfrm>
            <a:off x="4431242" y="1965961"/>
            <a:ext cx="3342217" cy="2653983"/>
          </a:xfrm>
          <a:prstGeom prst="roundRect">
            <a:avLst>
              <a:gd name="adj" fmla="val 2752"/>
            </a:avLst>
          </a:prstGeom>
          <a:solidFill>
            <a:srgbClr val="FBFAF6"/>
          </a:solidFill>
          <a:ln w="6350">
            <a:solidFill>
              <a:srgbClr val="D3D0C6"/>
            </a:solidFill>
            <a:prstDash val="solid"/>
          </a:ln>
        </p:spPr>
      </p:sp>
      <p:pic>
        <p:nvPicPr>
          <p:cNvPr id="8" name="Image 1" descr="Verified">    </p:cNvPr>
          <p:cNvPicPr>
            <a:picLocks noChangeAspect="1"/>
          </p:cNvPicPr>
          <p:nvPr/>
        </p:nvPicPr>
        <p:blipFill>
          <a:blip r:embed="rId2"/>
          <a:srcRect l="0" r="0" t="0" b="0"/>
          <a:stretch/>
        </p:blipFill>
        <p:spPr>
          <a:xfrm>
            <a:off x="4713817" y="2248536"/>
            <a:ext cx="330200" cy="330200"/>
          </a:xfrm>
          <a:prstGeom prst="rect">
            <a:avLst/>
          </a:prstGeom>
        </p:spPr>
      </p:pic>
      <p:sp>
        <p:nvSpPr>
          <p:cNvPr id="9" name="Text 5"/>
          <p:cNvSpPr/>
          <p:nvPr/>
        </p:nvSpPr>
        <p:spPr>
          <a:xfrm>
            <a:off x="4713817" y="2693036"/>
            <a:ext cx="28603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IBM Plex Sans" pitchFamily="34" charset="0"/>
                <a:ea typeface="IBM Plex Sans" pitchFamily="34" charset="-122"/>
                <a:cs typeface="IBM Plex Sans" pitchFamily="34" charset="-120"/>
              </a:rPr>
              <a:t>Stand behind results</a:t>
            </a:r>
            <a:endParaRPr lang="en-US" sz="1800" dirty="0"/>
          </a:p>
        </p:txBody>
      </p:sp>
      <p:sp>
        <p:nvSpPr>
          <p:cNvPr id="10" name="Text 6"/>
          <p:cNvSpPr/>
          <p:nvPr/>
        </p:nvSpPr>
        <p:spPr>
          <a:xfrm>
            <a:off x="4713817" y="3081655"/>
            <a:ext cx="2860379" cy="1268413"/>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5646B"/>
                </a:solidFill>
                <a:latin typeface="IBM Plex Sans" pitchFamily="34" charset="0"/>
                <a:ea typeface="IBM Plex Sans" pitchFamily="34" charset="-122"/>
                <a:cs typeface="IBM Plex Sans" pitchFamily="34" charset="-120"/>
              </a:rPr>
              <a:t>A dated, attributable assessment for each activity, with the evidence it rests on. Our method follows ISO/IEC 17025, the standard for competence in testing laboratories.</a:t>
            </a:r>
            <a:endParaRPr lang="en-US" sz="1350" dirty="0"/>
          </a:p>
        </p:txBody>
      </p:sp>
      <p:sp>
        <p:nvSpPr>
          <p:cNvPr id="11" name="Shape 7"/>
          <p:cNvSpPr/>
          <p:nvPr/>
        </p:nvSpPr>
        <p:spPr>
          <a:xfrm>
            <a:off x="8033808" y="1965961"/>
            <a:ext cx="3342217" cy="2653983"/>
          </a:xfrm>
          <a:prstGeom prst="roundRect">
            <a:avLst>
              <a:gd name="adj" fmla="val 2752"/>
            </a:avLst>
          </a:prstGeom>
          <a:solidFill>
            <a:srgbClr val="FBFAF6"/>
          </a:solidFill>
          <a:ln w="6350">
            <a:solidFill>
              <a:srgbClr val="D3D0C6"/>
            </a:solidFill>
            <a:prstDash val="solid"/>
          </a:ln>
        </p:spPr>
      </p:sp>
      <p:pic>
        <p:nvPicPr>
          <p:cNvPr id="12" name="Image 2" descr="GraduationCap">    </p:cNvPr>
          <p:cNvPicPr>
            <a:picLocks noChangeAspect="1"/>
          </p:cNvPicPr>
          <p:nvPr/>
        </p:nvPicPr>
        <p:blipFill>
          <a:blip r:embed="rId3"/>
          <a:srcRect l="0" r="0" t="0" b="0"/>
          <a:stretch/>
        </p:blipFill>
        <p:spPr>
          <a:xfrm>
            <a:off x="8316383" y="2248536"/>
            <a:ext cx="330200" cy="330200"/>
          </a:xfrm>
          <a:prstGeom prst="rect">
            <a:avLst/>
          </a:prstGeom>
        </p:spPr>
      </p:pic>
      <p:sp>
        <p:nvSpPr>
          <p:cNvPr id="13" name="Text 8"/>
          <p:cNvSpPr/>
          <p:nvPr/>
        </p:nvSpPr>
        <p:spPr>
          <a:xfrm>
            <a:off x="8316383" y="2693036"/>
            <a:ext cx="28603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IBM Plex Sans" pitchFamily="34" charset="0"/>
                <a:ea typeface="IBM Plex Sans" pitchFamily="34" charset="-122"/>
                <a:cs typeface="IBM Plex Sans" pitchFamily="34" charset="-120"/>
              </a:rPr>
              <a:t>Give people direction</a:t>
            </a:r>
            <a:endParaRPr lang="en-US" sz="1800" dirty="0"/>
          </a:p>
        </p:txBody>
      </p:sp>
      <p:sp>
        <p:nvSpPr>
          <p:cNvPr id="14" name="Text 9"/>
          <p:cNvSpPr/>
          <p:nvPr/>
        </p:nvSpPr>
        <p:spPr>
          <a:xfrm>
            <a:off x="8316383" y="3081655"/>
            <a:ext cx="2860379" cy="1268413"/>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5646B"/>
                </a:solidFill>
                <a:latin typeface="IBM Plex Sans" pitchFamily="34" charset="0"/>
                <a:ea typeface="IBM Plex Sans" pitchFamily="34" charset="-122"/>
                <a:cs typeface="IBM Plex Sans" pitchFamily="34" charset="-120"/>
              </a:rPr>
              <a:t>A distance to the next tier computed in named skills, so development is planned against evidence rather than negotiated in adjectives.</a:t>
            </a:r>
            <a:endParaRPr lang="en-US" sz="1350" dirty="0"/>
          </a:p>
        </p:txBody>
      </p:sp>
      <p:sp>
        <p:nvSpPr>
          <p:cNvPr id="15" name="Text 10"/>
          <p:cNvSpPr/>
          <p:nvPr/>
        </p:nvSpPr>
        <p:spPr>
          <a:xfrm>
            <a:off x="812800" y="5289550"/>
            <a:ext cx="941832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Staffing is first deliberately. It is the use that pays for the effort of keeping the records honest, and the one that would collapse first if they went stale.</a:t>
            </a:r>
            <a:endParaRPr lang="en-US" sz="1500" dirty="0"/>
          </a:p>
        </p:txBody>
      </p:sp>
      <p:sp>
        <p:nvSpPr>
          <p:cNvPr id="16" name="Text 11"/>
          <p:cNvSpPr/>
          <p:nvPr/>
        </p:nvSpPr>
        <p:spPr>
          <a:xfrm>
            <a:off x="812800" y="6238239"/>
            <a:ext cx="20388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What we want to achieve</a:t>
            </a:r>
            <a:endParaRPr lang="en-US" sz="1200" dirty="0"/>
          </a:p>
        </p:txBody>
      </p:sp>
      <p:sp>
        <p:nvSpPr>
          <p:cNvPr id="17" name="Text 12"/>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6E3D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Competence attaches to activities, not job titles</a:t>
            </a:r>
            <a:endParaRPr lang="en-US" sz="3400" dirty="0"/>
          </a:p>
        </p:txBody>
      </p:sp>
      <p:sp>
        <p:nvSpPr>
          <p:cNvPr id="3" name="Text 1"/>
          <p:cNvSpPr/>
          <p:nvPr/>
        </p:nvSpPr>
        <p:spPr>
          <a:xfrm>
            <a:off x="812800" y="1663595"/>
            <a:ext cx="420685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6E6757"/>
                </a:solidFill>
                <a:latin typeface="IBM Plex Sans" pitchFamily="34" charset="0"/>
                <a:ea typeface="IBM Plex Sans" pitchFamily="34" charset="-122"/>
                <a:cs typeface="IBM Plex Sans" pitchFamily="34" charset="-120"/>
              </a:rPr>
              <a:t>A job title says</a:t>
            </a:r>
            <a:endParaRPr lang="en-US" sz="1250" dirty="0"/>
          </a:p>
        </p:txBody>
      </p:sp>
      <p:sp>
        <p:nvSpPr>
          <p:cNvPr id="4" name="Shape 2"/>
          <p:cNvSpPr/>
          <p:nvPr/>
        </p:nvSpPr>
        <p:spPr>
          <a:xfrm>
            <a:off x="819150" y="2006495"/>
            <a:ext cx="4071620" cy="1527810"/>
          </a:xfrm>
          <a:prstGeom prst="roundRect">
            <a:avLst>
              <a:gd name="adj" fmla="val 4572"/>
            </a:avLst>
          </a:prstGeom>
          <a:solidFill>
            <a:srgbClr val="DDD9CE"/>
          </a:solidFill>
          <a:ln w="12700">
            <a:solidFill>
              <a:srgbClr val="B5AFA0"/>
            </a:solidFill>
            <a:prstDash val="dash"/>
          </a:ln>
        </p:spPr>
      </p:sp>
      <p:sp>
        <p:nvSpPr>
          <p:cNvPr id="5" name="Text 3"/>
          <p:cNvSpPr/>
          <p:nvPr/>
        </p:nvSpPr>
        <p:spPr>
          <a:xfrm>
            <a:off x="1079500" y="2266845"/>
            <a:ext cx="3657448" cy="45212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E6757"/>
                </a:solidFill>
                <a:latin typeface="Source Serif 4" pitchFamily="18" charset="0"/>
                <a:ea typeface="Source Serif 4" pitchFamily="18" charset="-122"/>
                <a:cs typeface="Source Serif 4" pitchFamily="18" charset="-120"/>
              </a:rPr>
              <a:t>Senior Analyst</a:t>
            </a:r>
            <a:endParaRPr lang="en-US" sz="2400" dirty="0"/>
          </a:p>
        </p:txBody>
      </p:sp>
      <p:sp>
        <p:nvSpPr>
          <p:cNvPr id="6" name="Text 4"/>
          <p:cNvSpPr/>
          <p:nvPr/>
        </p:nvSpPr>
        <p:spPr>
          <a:xfrm>
            <a:off x="1079500" y="2795163"/>
            <a:ext cx="3657448"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5646B"/>
                </a:solidFill>
                <a:latin typeface="IBM Plex Sans" pitchFamily="34" charset="0"/>
                <a:ea typeface="IBM Plex Sans" pitchFamily="34" charset="-122"/>
                <a:cs typeface="IBM Plex Sans" pitchFamily="34" charset="-120"/>
              </a:rPr>
              <a:t>An average of many different competences. It cannot tell you which work this person can take.</a:t>
            </a:r>
            <a:endParaRPr lang="en-US" sz="1300" dirty="0"/>
          </a:p>
        </p:txBody>
      </p:sp>
      <p:sp>
        <p:nvSpPr>
          <p:cNvPr id="7" name="Text 5"/>
          <p:cNvSpPr/>
          <p:nvPr/>
        </p:nvSpPr>
        <p:spPr>
          <a:xfrm>
            <a:off x="5252720" y="1663595"/>
            <a:ext cx="6310274"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6B4A8C"/>
                </a:solidFill>
                <a:latin typeface="IBM Plex Sans" pitchFamily="34" charset="0"/>
                <a:ea typeface="IBM Plex Sans" pitchFamily="34" charset="-122"/>
                <a:cs typeface="IBM Plex Sans" pitchFamily="34" charset="-120"/>
              </a:rPr>
              <a:t>One record says</a:t>
            </a:r>
            <a:endParaRPr lang="en-US" sz="1250" dirty="0"/>
          </a:p>
        </p:txBody>
      </p:sp>
      <p:sp>
        <p:nvSpPr>
          <p:cNvPr id="8" name="Shape 6"/>
          <p:cNvSpPr/>
          <p:nvPr/>
        </p:nvSpPr>
        <p:spPr>
          <a:xfrm>
            <a:off x="5259070" y="2006495"/>
            <a:ext cx="6113780" cy="2909570"/>
          </a:xfrm>
          <a:prstGeom prst="roundRect">
            <a:avLst>
              <a:gd name="adj" fmla="val 2401"/>
            </a:avLst>
          </a:prstGeom>
          <a:solidFill>
            <a:srgbClr val="FBFAF6"/>
          </a:solidFill>
          <a:ln w="12700">
            <a:solidFill>
              <a:srgbClr val="6B4A8C"/>
            </a:solidFill>
            <a:prstDash val="solid"/>
          </a:ln>
        </p:spPr>
      </p:sp>
      <p:sp>
        <p:nvSpPr>
          <p:cNvPr id="9" name="Text 7"/>
          <p:cNvSpPr/>
          <p:nvPr/>
        </p:nvSpPr>
        <p:spPr>
          <a:xfrm>
            <a:off x="5265420" y="2012845"/>
            <a:ext cx="6101080" cy="441960"/>
          </a:xfrm>
          <a:custGeom>
            <a:avLst/>
            <a:gdLst/>
            <a:ahLst/>
            <a:cxnLst/>
            <a:rect l="l" t="t" r="r" b="b"/>
            <a:pathLst>
              <a:path w="6101080" h="441960">
                <a:moveTo>
                  <a:pt x="0" y="63500"/>
                </a:moveTo>
                <a:arcTo hR="63500" wR="63500" stAng="10800000" swAng="5400000"/>
                <a:lnTo>
                  <a:pt x="6037580" y="0"/>
                </a:lnTo>
                <a:arcTo hR="63500" wR="63500" stAng="16200000" swAng="5400000"/>
                <a:lnTo>
                  <a:pt x="6101080" y="441960"/>
                </a:lnTo>
                <a:lnTo>
                  <a:pt x="0" y="441960"/>
                </a:lnTo>
                <a:close/>
              </a:path>
            </a:pathLst>
          </a:custGeom>
          <a:solidFill>
            <a:srgbClr val="16232A"/>
          </a:solidFill>
          <a:ln/>
        </p:spPr>
        <p:txBody>
          <a:bodyPr wrap="square" lIns="203200" tIns="114300" rIns="32360" bIns="88900" rtlCol="0" anchor="t">
            <a:normAutofit/>
          </a:bodyPr>
          <a:lstStyle/>
          <a:p>
            <a:pPr algn="l"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Illustrative competence record</a:t>
            </a:r>
            <a:endParaRPr lang="en-US" sz="1200" dirty="0"/>
          </a:p>
        </p:txBody>
      </p:sp>
      <p:sp>
        <p:nvSpPr>
          <p:cNvPr id="10" name="Shape 8"/>
          <p:cNvSpPr/>
          <p:nvPr/>
        </p:nvSpPr>
        <p:spPr>
          <a:xfrm>
            <a:off x="5468620" y="2861840"/>
            <a:ext cx="5694680" cy="0"/>
          </a:xfrm>
          <a:prstGeom prst="line">
            <a:avLst/>
          </a:prstGeom>
          <a:noFill/>
          <a:ln w="6350">
            <a:solidFill>
              <a:srgbClr val="E4E1D7"/>
            </a:solidFill>
            <a:prstDash val="solid"/>
          </a:ln>
        </p:spPr>
      </p:sp>
      <p:sp>
        <p:nvSpPr>
          <p:cNvPr id="11" name="Text 9"/>
          <p:cNvSpPr/>
          <p:nvPr/>
        </p:nvSpPr>
        <p:spPr>
          <a:xfrm>
            <a:off x="5468620" y="2562755"/>
            <a:ext cx="1638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Skill</a:t>
            </a:r>
            <a:endParaRPr lang="en-US" sz="1200" dirty="0"/>
          </a:p>
        </p:txBody>
      </p:sp>
      <p:sp>
        <p:nvSpPr>
          <p:cNvPr id="12" name="Text 10"/>
          <p:cNvSpPr/>
          <p:nvPr/>
        </p:nvSpPr>
        <p:spPr>
          <a:xfrm>
            <a:off x="7183120" y="2562755"/>
            <a:ext cx="40995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2A"/>
                </a:solidFill>
                <a:latin typeface="IBM Plex Sans" pitchFamily="34" charset="0"/>
                <a:ea typeface="IBM Plex Sans" pitchFamily="34" charset="-122"/>
                <a:cs typeface="IBM Plex Sans" pitchFamily="34" charset="-120"/>
              </a:rPr>
              <a:t>Differential power analysis</a:t>
            </a:r>
            <a:endParaRPr lang="en-US" sz="1200" dirty="0"/>
          </a:p>
        </p:txBody>
      </p:sp>
      <p:sp>
        <p:nvSpPr>
          <p:cNvPr id="13" name="Shape 11"/>
          <p:cNvSpPr/>
          <p:nvPr/>
        </p:nvSpPr>
        <p:spPr>
          <a:xfrm>
            <a:off x="5468620" y="3246648"/>
            <a:ext cx="5694680" cy="0"/>
          </a:xfrm>
          <a:prstGeom prst="line">
            <a:avLst/>
          </a:prstGeom>
          <a:noFill/>
          <a:ln w="6350">
            <a:solidFill>
              <a:srgbClr val="E4E1D7"/>
            </a:solidFill>
            <a:prstDash val="solid"/>
          </a:ln>
        </p:spPr>
      </p:sp>
      <p:sp>
        <p:nvSpPr>
          <p:cNvPr id="14" name="Text 12"/>
          <p:cNvSpPr/>
          <p:nvPr/>
        </p:nvSpPr>
        <p:spPr>
          <a:xfrm>
            <a:off x="5468620" y="2947563"/>
            <a:ext cx="1638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Level</a:t>
            </a:r>
            <a:endParaRPr lang="en-US" sz="1200" dirty="0"/>
          </a:p>
        </p:txBody>
      </p:sp>
      <p:sp>
        <p:nvSpPr>
          <p:cNvPr id="15" name="Text 13"/>
          <p:cNvSpPr/>
          <p:nvPr/>
        </p:nvSpPr>
        <p:spPr>
          <a:xfrm>
            <a:off x="7183120" y="2947563"/>
            <a:ext cx="40995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4A8C"/>
                </a:solidFill>
                <a:latin typeface="IBM Plex Sans" pitchFamily="34" charset="0"/>
                <a:ea typeface="IBM Plex Sans" pitchFamily="34" charset="-122"/>
                <a:cs typeface="IBM Plex Sans" pitchFamily="34" charset="-120"/>
              </a:rPr>
              <a:t>3, independent practice</a:t>
            </a:r>
            <a:endParaRPr lang="en-US" sz="1200" dirty="0"/>
          </a:p>
        </p:txBody>
      </p:sp>
      <p:sp>
        <p:nvSpPr>
          <p:cNvPr id="16" name="Shape 14"/>
          <p:cNvSpPr/>
          <p:nvPr/>
        </p:nvSpPr>
        <p:spPr>
          <a:xfrm>
            <a:off x="5468620" y="3631458"/>
            <a:ext cx="5694680" cy="0"/>
          </a:xfrm>
          <a:prstGeom prst="line">
            <a:avLst/>
          </a:prstGeom>
          <a:noFill/>
          <a:ln w="6350">
            <a:solidFill>
              <a:srgbClr val="E4E1D7"/>
            </a:solidFill>
            <a:prstDash val="solid"/>
          </a:ln>
        </p:spPr>
      </p:sp>
      <p:sp>
        <p:nvSpPr>
          <p:cNvPr id="17" name="Text 15"/>
          <p:cNvSpPr/>
          <p:nvPr/>
        </p:nvSpPr>
        <p:spPr>
          <a:xfrm>
            <a:off x="5468620" y="3332373"/>
            <a:ext cx="1638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Assessed</a:t>
            </a:r>
            <a:endParaRPr lang="en-US" sz="1200" dirty="0"/>
          </a:p>
        </p:txBody>
      </p:sp>
      <p:sp>
        <p:nvSpPr>
          <p:cNvPr id="18" name="Text 16"/>
          <p:cNvSpPr/>
          <p:nvPr/>
        </p:nvSpPr>
        <p:spPr>
          <a:xfrm>
            <a:off x="7183120" y="3332373"/>
            <a:ext cx="40995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2A"/>
                </a:solidFill>
                <a:latin typeface="IBM Plex Sans" pitchFamily="34" charset="0"/>
                <a:ea typeface="IBM Plex Sans" pitchFamily="34" charset="-122"/>
                <a:cs typeface="IBM Plex Sans" pitchFamily="34" charset="-120"/>
              </a:rPr>
              <a:t>4 March 2026, by a named evaluator</a:t>
            </a:r>
            <a:endParaRPr lang="en-US" sz="1200" dirty="0"/>
          </a:p>
        </p:txBody>
      </p:sp>
      <p:sp>
        <p:nvSpPr>
          <p:cNvPr id="19" name="Shape 17"/>
          <p:cNvSpPr/>
          <p:nvPr/>
        </p:nvSpPr>
        <p:spPr>
          <a:xfrm>
            <a:off x="5468620" y="4016269"/>
            <a:ext cx="5694680" cy="0"/>
          </a:xfrm>
          <a:prstGeom prst="line">
            <a:avLst/>
          </a:prstGeom>
          <a:noFill/>
          <a:ln w="6350">
            <a:solidFill>
              <a:srgbClr val="E4E1D7"/>
            </a:solidFill>
            <a:prstDash val="solid"/>
          </a:ln>
        </p:spPr>
      </p:sp>
      <p:sp>
        <p:nvSpPr>
          <p:cNvPr id="20" name="Text 18"/>
          <p:cNvSpPr/>
          <p:nvPr/>
        </p:nvSpPr>
        <p:spPr>
          <a:xfrm>
            <a:off x="5468620" y="3717184"/>
            <a:ext cx="1638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Evidence</a:t>
            </a:r>
            <a:endParaRPr lang="en-US" sz="1200" dirty="0"/>
          </a:p>
        </p:txBody>
      </p:sp>
      <p:sp>
        <p:nvSpPr>
          <p:cNvPr id="21" name="Text 19"/>
          <p:cNvSpPr/>
          <p:nvPr/>
        </p:nvSpPr>
        <p:spPr>
          <a:xfrm>
            <a:off x="7183120" y="3717184"/>
            <a:ext cx="40995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2A"/>
                </a:solidFill>
                <a:latin typeface="IBM Plex Sans" pitchFamily="34" charset="0"/>
                <a:ea typeface="IBM Plex Sans" pitchFamily="34" charset="-122"/>
                <a:cs typeface="IBM Plex Sans" pitchFamily="34" charset="-120"/>
              </a:rPr>
              <a:t>Three engagements, reports reviewed</a:t>
            </a:r>
            <a:endParaRPr lang="en-US" sz="1200" dirty="0"/>
          </a:p>
        </p:txBody>
      </p:sp>
      <p:sp>
        <p:nvSpPr>
          <p:cNvPr id="22" name="Shape 20"/>
          <p:cNvSpPr/>
          <p:nvPr/>
        </p:nvSpPr>
        <p:spPr>
          <a:xfrm>
            <a:off x="5468620" y="4401080"/>
            <a:ext cx="5694680" cy="0"/>
          </a:xfrm>
          <a:prstGeom prst="line">
            <a:avLst/>
          </a:prstGeom>
          <a:noFill/>
          <a:ln w="6350">
            <a:solidFill>
              <a:srgbClr val="E4E1D7"/>
            </a:solidFill>
            <a:prstDash val="solid"/>
          </a:ln>
        </p:spPr>
      </p:sp>
      <p:sp>
        <p:nvSpPr>
          <p:cNvPr id="23" name="Text 21"/>
          <p:cNvSpPr/>
          <p:nvPr/>
        </p:nvSpPr>
        <p:spPr>
          <a:xfrm>
            <a:off x="5468620" y="4101995"/>
            <a:ext cx="1638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Authorization</a:t>
            </a:r>
            <a:endParaRPr lang="en-US" sz="1200" dirty="0"/>
          </a:p>
        </p:txBody>
      </p:sp>
      <p:sp>
        <p:nvSpPr>
          <p:cNvPr id="24" name="Text 22"/>
          <p:cNvSpPr/>
          <p:nvPr/>
        </p:nvSpPr>
        <p:spPr>
          <a:xfrm>
            <a:off x="7183120" y="4101995"/>
            <a:ext cx="409958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4A8C"/>
                </a:solidFill>
                <a:latin typeface="IBM Plex Sans" pitchFamily="34" charset="0"/>
                <a:ea typeface="IBM Plex Sans" pitchFamily="34" charset="-122"/>
                <a:cs typeface="IBM Plex Sans" pitchFamily="34" charset="-120"/>
              </a:rPr>
              <a:t>Granted, unsupervised work</a:t>
            </a:r>
            <a:endParaRPr lang="en-US" sz="1200" dirty="0"/>
          </a:p>
        </p:txBody>
      </p:sp>
      <p:sp>
        <p:nvSpPr>
          <p:cNvPr id="25" name="Text 23"/>
          <p:cNvSpPr/>
          <p:nvPr/>
        </p:nvSpPr>
        <p:spPr>
          <a:xfrm>
            <a:off x="5468620" y="4486805"/>
            <a:ext cx="1638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Last practiced</a:t>
            </a:r>
            <a:endParaRPr lang="en-US" sz="1200" dirty="0"/>
          </a:p>
        </p:txBody>
      </p:sp>
      <p:sp>
        <p:nvSpPr>
          <p:cNvPr id="26" name="Text 24"/>
          <p:cNvSpPr/>
          <p:nvPr/>
        </p:nvSpPr>
        <p:spPr>
          <a:xfrm>
            <a:off x="7183120" y="4486805"/>
            <a:ext cx="40995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2A"/>
                </a:solidFill>
                <a:latin typeface="IBM Plex Sans" pitchFamily="34" charset="0"/>
                <a:ea typeface="IBM Plex Sans" pitchFamily="34" charset="-122"/>
                <a:cs typeface="IBM Plex Sans" pitchFamily="34" charset="-120"/>
              </a:rPr>
              <a:t>11 September 2026</a:t>
            </a:r>
            <a:endParaRPr lang="en-US" sz="1200" dirty="0"/>
          </a:p>
        </p:txBody>
      </p:sp>
      <p:sp>
        <p:nvSpPr>
          <p:cNvPr id="27" name="Text 25"/>
          <p:cNvSpPr/>
          <p:nvPr/>
        </p:nvSpPr>
        <p:spPr>
          <a:xfrm>
            <a:off x="812800" y="5289550"/>
            <a:ext cx="941832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There are 278 such activities. A person holds a separate dated record for each one they have been assessed on, and that is what the staffing and development reports read.</a:t>
            </a:r>
            <a:endParaRPr lang="en-US" sz="1500" dirty="0"/>
          </a:p>
        </p:txBody>
      </p:sp>
      <p:sp>
        <p:nvSpPr>
          <p:cNvPr id="28" name="Text 26"/>
          <p:cNvSpPr/>
          <p:nvPr/>
        </p:nvSpPr>
        <p:spPr>
          <a:xfrm>
            <a:off x="812800" y="6238239"/>
            <a:ext cx="20388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What we want to achieve</a:t>
            </a:r>
            <a:endParaRPr lang="en-US" sz="1200" dirty="0"/>
          </a:p>
        </p:txBody>
      </p:sp>
      <p:sp>
        <p:nvSpPr>
          <p:cNvPr id="29" name="Text 27"/>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How a job gets staffed</a:t>
            </a:r>
            <a:endParaRPr lang="en-US" sz="3400" dirty="0"/>
          </a:p>
        </p:txBody>
      </p:sp>
      <p:sp>
        <p:nvSpPr>
          <p:cNvPr id="3" name="Shape 1"/>
          <p:cNvSpPr/>
          <p:nvPr/>
        </p:nvSpPr>
        <p:spPr>
          <a:xfrm>
            <a:off x="815975" y="1389379"/>
            <a:ext cx="3007783" cy="1720850"/>
          </a:xfrm>
          <a:prstGeom prst="roundRect">
            <a:avLst>
              <a:gd name="adj" fmla="val 3506"/>
            </a:avLst>
          </a:prstGeom>
          <a:solidFill>
            <a:srgbClr val="FBFAF6"/>
          </a:solidFill>
          <a:ln w="6350">
            <a:solidFill>
              <a:srgbClr val="D3D0C6"/>
            </a:solidFill>
            <a:prstDash val="solid"/>
          </a:ln>
        </p:spPr>
      </p:sp>
      <p:sp>
        <p:nvSpPr>
          <p:cNvPr id="4" name="Text 2"/>
          <p:cNvSpPr/>
          <p:nvPr/>
        </p:nvSpPr>
        <p:spPr>
          <a:xfrm>
            <a:off x="996950" y="1570354"/>
            <a:ext cx="27252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2A"/>
                </a:solidFill>
                <a:latin typeface="IBM Plex Sans" pitchFamily="34" charset="0"/>
                <a:ea typeface="IBM Plex Sans" pitchFamily="34" charset="-122"/>
                <a:cs typeface="IBM Plex Sans" pitchFamily="34" charset="-120"/>
              </a:rPr>
              <a:t>1. The service</a:t>
            </a:r>
            <a:endParaRPr lang="en-US" sz="1500" dirty="0"/>
          </a:p>
        </p:txBody>
      </p:sp>
      <p:sp>
        <p:nvSpPr>
          <p:cNvPr id="5" name="Text 3"/>
          <p:cNvSpPr/>
          <p:nvPr/>
        </p:nvSpPr>
        <p:spPr>
          <a:xfrm>
            <a:off x="996950" y="1862454"/>
            <a:ext cx="2725208"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Each of the 17 services lists the competencies it needs and the minimum level for each. Hardware Security Evaluation names 20; a red team engagement names 38.</a:t>
            </a:r>
            <a:endParaRPr lang="en-US" sz="1200" dirty="0"/>
          </a:p>
        </p:txBody>
      </p:sp>
      <p:pic>
        <p:nvPicPr>
          <p:cNvPr id="6" name="Image 0" descr="connector">    </p:cNvPr>
          <p:cNvPicPr>
            <a:picLocks noChangeAspect="1"/>
          </p:cNvPicPr>
          <p:nvPr/>
        </p:nvPicPr>
        <p:blipFill>
          <a:blip r:embed="rId1"/>
          <a:srcRect l="0" r="0" t="0" b="0"/>
          <a:stretch/>
        </p:blipFill>
        <p:spPr>
          <a:xfrm>
            <a:off x="3972983" y="2199004"/>
            <a:ext cx="469900" cy="101600"/>
          </a:xfrm>
          <a:prstGeom prst="rect">
            <a:avLst/>
          </a:prstGeom>
        </p:spPr>
      </p:pic>
      <p:sp>
        <p:nvSpPr>
          <p:cNvPr id="7" name="Shape 4"/>
          <p:cNvSpPr/>
          <p:nvPr/>
        </p:nvSpPr>
        <p:spPr>
          <a:xfrm>
            <a:off x="4592108" y="1389379"/>
            <a:ext cx="3007783" cy="1720850"/>
          </a:xfrm>
          <a:prstGeom prst="roundRect">
            <a:avLst>
              <a:gd name="adj" fmla="val 3506"/>
            </a:avLst>
          </a:prstGeom>
          <a:solidFill>
            <a:srgbClr val="FBFAF6"/>
          </a:solidFill>
          <a:ln w="6350">
            <a:solidFill>
              <a:srgbClr val="D3D0C6"/>
            </a:solidFill>
            <a:prstDash val="solid"/>
          </a:ln>
        </p:spPr>
      </p:sp>
      <p:sp>
        <p:nvSpPr>
          <p:cNvPr id="8" name="Text 5"/>
          <p:cNvSpPr/>
          <p:nvPr/>
        </p:nvSpPr>
        <p:spPr>
          <a:xfrm>
            <a:off x="4773083" y="1570354"/>
            <a:ext cx="27252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2A"/>
                </a:solidFill>
                <a:latin typeface="IBM Plex Sans" pitchFamily="34" charset="0"/>
                <a:ea typeface="IBM Plex Sans" pitchFamily="34" charset="-122"/>
                <a:cs typeface="IBM Plex Sans" pitchFamily="34" charset="-120"/>
              </a:rPr>
              <a:t>2. The project</a:t>
            </a:r>
            <a:endParaRPr lang="en-US" sz="1500" dirty="0"/>
          </a:p>
        </p:txBody>
      </p:sp>
      <p:sp>
        <p:nvSpPr>
          <p:cNvPr id="9" name="Text 6"/>
          <p:cNvSpPr/>
          <p:nvPr/>
        </p:nvSpPr>
        <p:spPr>
          <a:xfrm>
            <a:off x="4773083" y="1862454"/>
            <a:ext cx="2725208"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A project opens as a copy of that template, then is tailored to the real engagement: requirements added, dropped, or set to a different level.</a:t>
            </a:r>
            <a:endParaRPr lang="en-US" sz="1200" dirty="0"/>
          </a:p>
        </p:txBody>
      </p:sp>
      <p:pic>
        <p:nvPicPr>
          <p:cNvPr id="10" name="Image 1" descr="connector">    </p:cNvPr>
          <p:cNvPicPr>
            <a:picLocks noChangeAspect="1"/>
          </p:cNvPicPr>
          <p:nvPr/>
        </p:nvPicPr>
        <p:blipFill>
          <a:blip r:embed="rId2"/>
          <a:srcRect l="0" r="0" t="0" b="0"/>
          <a:stretch/>
        </p:blipFill>
        <p:spPr>
          <a:xfrm>
            <a:off x="7749117" y="2199004"/>
            <a:ext cx="469900" cy="101600"/>
          </a:xfrm>
          <a:prstGeom prst="rect">
            <a:avLst/>
          </a:prstGeom>
        </p:spPr>
      </p:pic>
      <p:sp>
        <p:nvSpPr>
          <p:cNvPr id="11" name="Shape 7"/>
          <p:cNvSpPr/>
          <p:nvPr/>
        </p:nvSpPr>
        <p:spPr>
          <a:xfrm>
            <a:off x="8368242" y="1389379"/>
            <a:ext cx="3007783" cy="1720850"/>
          </a:xfrm>
          <a:prstGeom prst="roundRect">
            <a:avLst>
              <a:gd name="adj" fmla="val 3506"/>
            </a:avLst>
          </a:prstGeom>
          <a:solidFill>
            <a:srgbClr val="FBFAF6"/>
          </a:solidFill>
          <a:ln w="6350">
            <a:solidFill>
              <a:srgbClr val="D3D0C6"/>
            </a:solidFill>
            <a:prstDash val="solid"/>
          </a:ln>
        </p:spPr>
      </p:sp>
      <p:sp>
        <p:nvSpPr>
          <p:cNvPr id="12" name="Text 8"/>
          <p:cNvSpPr/>
          <p:nvPr/>
        </p:nvSpPr>
        <p:spPr>
          <a:xfrm>
            <a:off x="8549217" y="1570354"/>
            <a:ext cx="27252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2A"/>
                </a:solidFill>
                <a:latin typeface="IBM Plex Sans" pitchFamily="34" charset="0"/>
                <a:ea typeface="IBM Plex Sans" pitchFamily="34" charset="-122"/>
                <a:cs typeface="IBM Plex Sans" pitchFamily="34" charset="-120"/>
              </a:rPr>
              <a:t>3. The match</a:t>
            </a:r>
            <a:endParaRPr lang="en-US" sz="1500" dirty="0"/>
          </a:p>
        </p:txBody>
      </p:sp>
      <p:sp>
        <p:nvSpPr>
          <p:cNvPr id="13" name="Text 9"/>
          <p:cNvSpPr/>
          <p:nvPr/>
        </p:nvSpPr>
        <p:spPr>
          <a:xfrm>
            <a:off x="8549217" y="1862454"/>
            <a:ext cx="2725208"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Every requirement is checked against each person's assessed levels across all domains. Self-assessments are never counted here.</a:t>
            </a:r>
            <a:endParaRPr lang="en-US" sz="1200" dirty="0"/>
          </a:p>
        </p:txBody>
      </p:sp>
      <p:sp>
        <p:nvSpPr>
          <p:cNvPr id="14" name="Shape 10"/>
          <p:cNvSpPr/>
          <p:nvPr/>
        </p:nvSpPr>
        <p:spPr>
          <a:xfrm>
            <a:off x="819150" y="3209609"/>
            <a:ext cx="10553700" cy="1983740"/>
          </a:xfrm>
          <a:prstGeom prst="roundRect">
            <a:avLst>
              <a:gd name="adj" fmla="val 3521"/>
            </a:avLst>
          </a:prstGeom>
          <a:solidFill>
            <a:srgbClr val="FBFAF6"/>
          </a:solidFill>
          <a:ln w="12700">
            <a:solidFill>
              <a:srgbClr val="6B4A8C"/>
            </a:solidFill>
            <a:prstDash val="solid"/>
          </a:ln>
        </p:spPr>
      </p:sp>
      <p:sp>
        <p:nvSpPr>
          <p:cNvPr id="15" name="Text 11"/>
          <p:cNvSpPr/>
          <p:nvPr/>
        </p:nvSpPr>
        <p:spPr>
          <a:xfrm>
            <a:off x="825500" y="3215959"/>
            <a:ext cx="10541000" cy="450850"/>
          </a:xfrm>
          <a:custGeom>
            <a:avLst/>
            <a:gdLst/>
            <a:ahLst/>
            <a:cxnLst/>
            <a:rect l="l" t="t" r="r" b="b"/>
            <a:pathLst>
              <a:path w="10541000" h="450850">
                <a:moveTo>
                  <a:pt x="0" y="63500"/>
                </a:moveTo>
                <a:arcTo hR="63500" wR="63500" stAng="10800000" swAng="5400000"/>
                <a:lnTo>
                  <a:pt x="10477500" y="0"/>
                </a:lnTo>
                <a:arcTo hR="63500" wR="63500" stAng="16200000" swAng="5400000"/>
                <a:lnTo>
                  <a:pt x="10541000" y="450850"/>
                </a:lnTo>
                <a:lnTo>
                  <a:pt x="0" y="450850"/>
                </a:lnTo>
                <a:close/>
              </a:path>
            </a:pathLst>
          </a:custGeom>
          <a:solidFill>
            <a:srgbClr val="6B4A8C"/>
          </a:solidFill>
          <a:ln/>
        </p:spPr>
        <p:txBody>
          <a:bodyPr wrap="square" lIns="228600" tIns="114300" rIns="0" bIns="88900" rtlCol="0" anchor="t">
            <a:normAutofit/>
          </a:bodyPr>
          <a:lstStyle/>
          <a:p>
            <a:pPr algn="l" indent="0" marL="0">
              <a:lnSpc>
                <a:spcPts val="1750"/>
              </a:lnSpc>
              <a:buNone/>
            </a:pPr>
            <a:r>
              <a:rPr lang="en-US" sz="1250" b="1" dirty="0">
                <a:solidFill>
                  <a:srgbClr val="F2F0EA"/>
                </a:solidFill>
                <a:latin typeface="IBM Plex Sans" pitchFamily="34" charset="0"/>
                <a:ea typeface="IBM Plex Sans" pitchFamily="34" charset="-122"/>
                <a:cs typeface="IBM Plex Sans" pitchFamily="34" charset="-120"/>
              </a:rPr>
              <a:t>Service readiness, Hardware Security Evaluation</a:t>
            </a:r>
            <a:endParaRPr lang="en-US" sz="1250" dirty="0"/>
          </a:p>
        </p:txBody>
      </p:sp>
      <p:sp>
        <p:nvSpPr>
          <p:cNvPr id="16" name="Shape 12"/>
          <p:cNvSpPr/>
          <p:nvPr/>
        </p:nvSpPr>
        <p:spPr>
          <a:xfrm>
            <a:off x="1054100" y="4151314"/>
            <a:ext cx="10083800" cy="0"/>
          </a:xfrm>
          <a:prstGeom prst="line">
            <a:avLst/>
          </a:prstGeom>
          <a:noFill/>
          <a:ln w="6350">
            <a:solidFill>
              <a:srgbClr val="E4E1D7"/>
            </a:solidFill>
            <a:prstDash val="solid"/>
          </a:ln>
        </p:spPr>
      </p:sp>
      <p:sp>
        <p:nvSpPr>
          <p:cNvPr id="17" name="Text 13"/>
          <p:cNvSpPr/>
          <p:nvPr/>
        </p:nvSpPr>
        <p:spPr>
          <a:xfrm>
            <a:off x="1054100" y="3806509"/>
            <a:ext cx="680212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6232A"/>
                </a:solidFill>
                <a:latin typeface="IBM Plex Sans" pitchFamily="34" charset="0"/>
                <a:ea typeface="IBM Plex Sans" pitchFamily="34" charset="-122"/>
                <a:cs typeface="IBM Plex Sans" pitchFamily="34" charset="-120"/>
              </a:rPr>
              <a:t>Firmware extraction</a:t>
            </a:r>
            <a:endParaRPr lang="en-US" sz="1350" dirty="0"/>
          </a:p>
        </p:txBody>
      </p:sp>
      <p:sp>
        <p:nvSpPr>
          <p:cNvPr id="18" name="Text 14"/>
          <p:cNvSpPr/>
          <p:nvPr/>
        </p:nvSpPr>
        <p:spPr>
          <a:xfrm>
            <a:off x="7810500" y="3806509"/>
            <a:ext cx="132080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55646B"/>
                </a:solidFill>
                <a:latin typeface="IBM Plex Sans" pitchFamily="34" charset="0"/>
                <a:ea typeface="IBM Plex Sans" pitchFamily="34" charset="-122"/>
                <a:cs typeface="IBM Plex Sans" pitchFamily="34" charset="-120"/>
              </a:rPr>
              <a:t>level 3</a:t>
            </a:r>
            <a:endParaRPr lang="en-US" sz="1350" dirty="0"/>
          </a:p>
        </p:txBody>
      </p:sp>
      <p:sp>
        <p:nvSpPr>
          <p:cNvPr id="19" name="Text 15"/>
          <p:cNvSpPr/>
          <p:nvPr/>
        </p:nvSpPr>
        <p:spPr>
          <a:xfrm>
            <a:off x="9232900" y="3806509"/>
            <a:ext cx="1962150"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6B4A8C"/>
                </a:solidFill>
                <a:latin typeface="IBM Plex Sans" pitchFamily="34" charset="0"/>
                <a:ea typeface="IBM Plex Sans" pitchFamily="34" charset="-122"/>
                <a:cs typeface="IBM Plex Sans" pitchFamily="34" charset="-120"/>
              </a:rPr>
              <a:t>4 people qualify</a:t>
            </a:r>
            <a:endParaRPr lang="en-US" sz="1350" dirty="0"/>
          </a:p>
        </p:txBody>
      </p:sp>
      <p:sp>
        <p:nvSpPr>
          <p:cNvPr id="20" name="Shape 16"/>
          <p:cNvSpPr/>
          <p:nvPr/>
        </p:nvSpPr>
        <p:spPr>
          <a:xfrm>
            <a:off x="1054100" y="4600893"/>
            <a:ext cx="10083800" cy="0"/>
          </a:xfrm>
          <a:prstGeom prst="line">
            <a:avLst/>
          </a:prstGeom>
          <a:noFill/>
          <a:ln w="6350">
            <a:solidFill>
              <a:srgbClr val="E4E1D7"/>
            </a:solidFill>
            <a:prstDash val="solid"/>
          </a:ln>
        </p:spPr>
      </p:sp>
      <p:sp>
        <p:nvSpPr>
          <p:cNvPr id="21" name="Text 17"/>
          <p:cNvSpPr/>
          <p:nvPr/>
        </p:nvSpPr>
        <p:spPr>
          <a:xfrm>
            <a:off x="1054100" y="4256088"/>
            <a:ext cx="680212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6232A"/>
                </a:solidFill>
                <a:latin typeface="IBM Plex Sans" pitchFamily="34" charset="0"/>
                <a:ea typeface="IBM Plex Sans" pitchFamily="34" charset="-122"/>
                <a:cs typeface="IBM Plex Sans" pitchFamily="34" charset="-120"/>
              </a:rPr>
              <a:t>Laser fault injection</a:t>
            </a:r>
            <a:endParaRPr lang="en-US" sz="1350" dirty="0"/>
          </a:p>
        </p:txBody>
      </p:sp>
      <p:sp>
        <p:nvSpPr>
          <p:cNvPr id="22" name="Text 18"/>
          <p:cNvSpPr/>
          <p:nvPr/>
        </p:nvSpPr>
        <p:spPr>
          <a:xfrm>
            <a:off x="7810500" y="4256088"/>
            <a:ext cx="132080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55646B"/>
                </a:solidFill>
                <a:latin typeface="IBM Plex Sans" pitchFamily="34" charset="0"/>
                <a:ea typeface="IBM Plex Sans" pitchFamily="34" charset="-122"/>
                <a:cs typeface="IBM Plex Sans" pitchFamily="34" charset="-120"/>
              </a:rPr>
              <a:t>level 2</a:t>
            </a:r>
            <a:endParaRPr lang="en-US" sz="1350" dirty="0"/>
          </a:p>
        </p:txBody>
      </p:sp>
      <p:sp>
        <p:nvSpPr>
          <p:cNvPr id="23" name="Text 19"/>
          <p:cNvSpPr/>
          <p:nvPr/>
        </p:nvSpPr>
        <p:spPr>
          <a:xfrm>
            <a:off x="9232900" y="4256088"/>
            <a:ext cx="1962150"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7A5C1C"/>
                </a:solidFill>
                <a:latin typeface="IBM Plex Sans" pitchFamily="34" charset="0"/>
                <a:ea typeface="IBM Plex Sans" pitchFamily="34" charset="-122"/>
                <a:cs typeface="IBM Plex Sans" pitchFamily="34" charset="-120"/>
              </a:rPr>
              <a:t>1 person qualifies</a:t>
            </a:r>
            <a:endParaRPr lang="en-US" sz="1350" dirty="0"/>
          </a:p>
        </p:txBody>
      </p:sp>
      <p:sp>
        <p:nvSpPr>
          <p:cNvPr id="24" name="Text 20"/>
          <p:cNvSpPr/>
          <p:nvPr/>
        </p:nvSpPr>
        <p:spPr>
          <a:xfrm>
            <a:off x="1054100" y="4705666"/>
            <a:ext cx="680212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6232A"/>
                </a:solidFill>
                <a:latin typeface="IBM Plex Sans" pitchFamily="34" charset="0"/>
                <a:ea typeface="IBM Plex Sans" pitchFamily="34" charset="-122"/>
                <a:cs typeface="IBM Plex Sans" pitchFamily="34" charset="-120"/>
              </a:rPr>
              <a:t>Active sample preparation</a:t>
            </a:r>
            <a:endParaRPr lang="en-US" sz="1350" dirty="0"/>
          </a:p>
        </p:txBody>
      </p:sp>
      <p:sp>
        <p:nvSpPr>
          <p:cNvPr id="25" name="Text 21"/>
          <p:cNvSpPr/>
          <p:nvPr/>
        </p:nvSpPr>
        <p:spPr>
          <a:xfrm>
            <a:off x="7810500" y="4705666"/>
            <a:ext cx="1320800" cy="26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55646B"/>
                </a:solidFill>
                <a:latin typeface="IBM Plex Sans" pitchFamily="34" charset="0"/>
                <a:ea typeface="IBM Plex Sans" pitchFamily="34" charset="-122"/>
                <a:cs typeface="IBM Plex Sans" pitchFamily="34" charset="-120"/>
              </a:rPr>
              <a:t>level 2</a:t>
            </a:r>
            <a:endParaRPr lang="en-US" sz="1350" dirty="0"/>
          </a:p>
        </p:txBody>
      </p:sp>
      <p:sp>
        <p:nvSpPr>
          <p:cNvPr id="26" name="Text 22"/>
          <p:cNvSpPr/>
          <p:nvPr/>
        </p:nvSpPr>
        <p:spPr>
          <a:xfrm>
            <a:off x="9232900" y="4705666"/>
            <a:ext cx="1962150"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7A5C1C"/>
                </a:solidFill>
                <a:latin typeface="IBM Plex Sans" pitchFamily="34" charset="0"/>
                <a:ea typeface="IBM Plex Sans" pitchFamily="34" charset="-122"/>
                <a:cs typeface="IBM Plex Sans" pitchFamily="34" charset="-120"/>
              </a:rPr>
              <a:t>nobody qualifies</a:t>
            </a:r>
            <a:endParaRPr lang="en-US" sz="1350" dirty="0"/>
          </a:p>
        </p:txBody>
      </p:sp>
      <p:sp>
        <p:nvSpPr>
          <p:cNvPr id="27" name="Text 23"/>
          <p:cNvSpPr/>
          <p:nvPr/>
        </p:nvSpPr>
        <p:spPr>
          <a:xfrm>
            <a:off x="812800" y="5289550"/>
            <a:ext cx="967994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The uncomfortable lines are the valuable ones. A requirement only one person meets is a sales risk, a holiday problem and a succession problem at once, and it is visible here before it becomes an emergency.</a:t>
            </a:r>
            <a:endParaRPr lang="en-US" sz="1500" dirty="0"/>
          </a:p>
        </p:txBody>
      </p:sp>
      <p:sp>
        <p:nvSpPr>
          <p:cNvPr id="28" name="Text 24"/>
          <p:cNvSpPr/>
          <p:nvPr/>
        </p:nvSpPr>
        <p:spPr>
          <a:xfrm>
            <a:off x="812800" y="6238239"/>
            <a:ext cx="20388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What we want to achieve</a:t>
            </a:r>
            <a:endParaRPr lang="en-US" sz="1200" dirty="0"/>
          </a:p>
        </p:txBody>
      </p:sp>
      <p:sp>
        <p:nvSpPr>
          <p:cNvPr id="29" name="Text 25"/>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32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F2F0EA"/>
                </a:solidFill>
                <a:latin typeface="Source Serif 4" pitchFamily="18" charset="0"/>
                <a:ea typeface="Source Serif 4" pitchFamily="18" charset="-122"/>
                <a:cs typeface="Source Serif 4" pitchFamily="18" charset="-120"/>
              </a:rPr>
              <a:t>One ladder, two established scales</a:t>
            </a:r>
            <a:endParaRPr lang="en-US" sz="3400" dirty="0"/>
          </a:p>
        </p:txBody>
      </p:sp>
      <p:sp>
        <p:nvSpPr>
          <p:cNvPr id="3" name="Shape 1"/>
          <p:cNvSpPr/>
          <p:nvPr/>
        </p:nvSpPr>
        <p:spPr>
          <a:xfrm>
            <a:off x="812800" y="2378921"/>
            <a:ext cx="5146675" cy="0"/>
          </a:xfrm>
          <a:prstGeom prst="line">
            <a:avLst/>
          </a:prstGeom>
          <a:noFill/>
          <a:ln w="6350">
            <a:solidFill>
              <a:srgbClr val="35454D"/>
            </a:solidFill>
            <a:prstDash val="solid"/>
          </a:ln>
        </p:spPr>
      </p:sp>
      <p:sp>
        <p:nvSpPr>
          <p:cNvPr id="4" name="Text 2"/>
          <p:cNvSpPr/>
          <p:nvPr/>
        </p:nvSpPr>
        <p:spPr>
          <a:xfrm>
            <a:off x="812800" y="1842346"/>
            <a:ext cx="5301075" cy="46990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A7BAC0"/>
                </a:solidFill>
                <a:latin typeface="IBM Plex Sans" pitchFamily="34" charset="0"/>
                <a:ea typeface="IBM Plex Sans" pitchFamily="34" charset="-122"/>
                <a:cs typeface="IBM Plex Sans" pitchFamily="34" charset="-120"/>
              </a:rPr>
              <a:t>Levels 0 to 2, learning.</a:t>
            </a:r>
            <a:r>
              <a:rPr lang="en-US" sz="1250" dirty="0">
                <a:solidFill>
                  <a:srgbClr val="A7BAC0"/>
                </a:solidFill>
                <a:latin typeface="IBM Plex Sans" pitchFamily="34" charset="0"/>
                <a:ea typeface="IBM Plex Sans" pitchFamily="34" charset="-122"/>
                <a:cs typeface="IBM Plex Sans" pitchFamily="34" charset="-120"/>
              </a:rPr>
              <a:t> Output is reviewed before it leaves the laboratory.</a:t>
            </a:r>
            <a:endParaRPr lang="en-US" sz="1250" dirty="0"/>
          </a:p>
        </p:txBody>
      </p:sp>
      <p:sp>
        <p:nvSpPr>
          <p:cNvPr id="5" name="Shape 3"/>
          <p:cNvSpPr/>
          <p:nvPr/>
        </p:nvSpPr>
        <p:spPr>
          <a:xfrm>
            <a:off x="6111875" y="2378921"/>
            <a:ext cx="5267325" cy="0"/>
          </a:xfrm>
          <a:prstGeom prst="line">
            <a:avLst/>
          </a:prstGeom>
          <a:noFill/>
          <a:ln w="6350">
            <a:solidFill>
              <a:srgbClr val="B9A0DA"/>
            </a:solidFill>
            <a:prstDash val="solid"/>
          </a:ln>
        </p:spPr>
      </p:sp>
      <p:sp>
        <p:nvSpPr>
          <p:cNvPr id="6" name="Shape 4"/>
          <p:cNvSpPr/>
          <p:nvPr/>
        </p:nvSpPr>
        <p:spPr>
          <a:xfrm>
            <a:off x="6121400" y="1842346"/>
            <a:ext cx="0" cy="539750"/>
          </a:xfrm>
          <a:prstGeom prst="line">
            <a:avLst/>
          </a:prstGeom>
          <a:noFill/>
          <a:ln w="19050">
            <a:solidFill>
              <a:srgbClr val="B9A0DA"/>
            </a:solidFill>
            <a:prstDash val="solid"/>
          </a:ln>
        </p:spPr>
      </p:sp>
      <p:sp>
        <p:nvSpPr>
          <p:cNvPr id="7" name="Text 5"/>
          <p:cNvSpPr/>
          <p:nvPr/>
        </p:nvSpPr>
        <p:spPr>
          <a:xfrm>
            <a:off x="6232525" y="1842346"/>
            <a:ext cx="5301075"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9A0DA"/>
                </a:solidFill>
                <a:latin typeface="IBM Plex Sans" pitchFamily="34" charset="0"/>
                <a:ea typeface="IBM Plex Sans" pitchFamily="34" charset="-122"/>
                <a:cs typeface="IBM Plex Sans" pitchFamily="34" charset="-120"/>
              </a:rPr>
              <a:t>Levels 3 to 5, authorized.</a:t>
            </a:r>
            <a:r>
              <a:rPr lang="en-US" sz="1250" dirty="0">
                <a:solidFill>
                  <a:srgbClr val="B9A0DA"/>
                </a:solidFill>
                <a:latin typeface="IBM Plex Sans" pitchFamily="34" charset="0"/>
                <a:ea typeface="IBM Plex Sans" pitchFamily="34" charset="-122"/>
                <a:cs typeface="IBM Plex Sans" pitchFamily="34" charset="-120"/>
              </a:rPr>
              <a:t> Work carries the laboratory's name.</a:t>
            </a:r>
            <a:endParaRPr lang="en-US" sz="1250" dirty="0"/>
          </a:p>
        </p:txBody>
      </p:sp>
      <p:sp>
        <p:nvSpPr>
          <p:cNvPr id="8" name="Shape 6"/>
          <p:cNvSpPr/>
          <p:nvPr/>
        </p:nvSpPr>
        <p:spPr>
          <a:xfrm>
            <a:off x="812800" y="2483696"/>
            <a:ext cx="1629833" cy="1983740"/>
          </a:xfrm>
          <a:prstGeom prst="roundRect">
            <a:avLst>
              <a:gd name="adj" fmla="val 3896"/>
            </a:avLst>
          </a:prstGeom>
          <a:solidFill>
            <a:srgbClr val="1E2E36"/>
          </a:solidFill>
          <a:ln/>
        </p:spPr>
      </p:sp>
      <p:sp>
        <p:nvSpPr>
          <p:cNvPr id="9" name="Text 7"/>
          <p:cNvSpPr/>
          <p:nvPr/>
        </p:nvSpPr>
        <p:spPr>
          <a:xfrm>
            <a:off x="952500" y="2648796"/>
            <a:ext cx="1401233" cy="368300"/>
          </a:xfrm>
          <a:prstGeom prst="rect">
            <a:avLst/>
          </a:prstGeom>
          <a:noFill/>
          <a:ln/>
        </p:spPr>
        <p:txBody>
          <a:bodyPr wrap="square" lIns="0" tIns="0" rIns="0" bIns="0" rtlCol="0" anchor="t">
            <a:normAutofit/>
          </a:bodyPr>
          <a:lstStyle/>
          <a:p>
            <a:pPr algn="l" indent="0" marL="0">
              <a:lnSpc>
                <a:spcPts val="2700"/>
              </a:lnSpc>
              <a:buNone/>
            </a:pPr>
            <a:r>
              <a:rPr lang="en-US" sz="2700" dirty="0">
                <a:solidFill>
                  <a:srgbClr val="7E9198"/>
                </a:solidFill>
                <a:latin typeface="Source Serif 4" pitchFamily="18" charset="0"/>
                <a:ea typeface="Source Serif 4" pitchFamily="18" charset="-122"/>
                <a:cs typeface="Source Serif 4" pitchFamily="18" charset="-120"/>
              </a:rPr>
              <a:t>0</a:t>
            </a:r>
            <a:endParaRPr lang="en-US" sz="2700" dirty="0"/>
          </a:p>
        </p:txBody>
      </p:sp>
      <p:sp>
        <p:nvSpPr>
          <p:cNvPr id="10" name="Text 8"/>
          <p:cNvSpPr/>
          <p:nvPr/>
        </p:nvSpPr>
        <p:spPr>
          <a:xfrm>
            <a:off x="952500" y="3055196"/>
            <a:ext cx="1401233"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2F0EA"/>
                </a:solidFill>
                <a:latin typeface="IBM Plex Sans" pitchFamily="34" charset="0"/>
                <a:ea typeface="IBM Plex Sans" pitchFamily="34" charset="-122"/>
                <a:cs typeface="IBM Plex Sans" pitchFamily="34" charset="-120"/>
              </a:rPr>
              <a:t>None</a:t>
            </a:r>
            <a:endParaRPr lang="en-US" sz="1350" dirty="0"/>
          </a:p>
        </p:txBody>
      </p:sp>
      <p:sp>
        <p:nvSpPr>
          <p:cNvPr id="11" name="Text 9"/>
          <p:cNvSpPr/>
          <p:nvPr/>
        </p:nvSpPr>
        <p:spPr>
          <a:xfrm>
            <a:off x="952500" y="3358725"/>
            <a:ext cx="1401233"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A7BAC0"/>
                </a:solidFill>
                <a:latin typeface="IBM Plex Sans" pitchFamily="34" charset="0"/>
                <a:ea typeface="IBM Plex Sans" pitchFamily="34" charset="-122"/>
                <a:cs typeface="IBM Plex Sans" pitchFamily="34" charset="-120"/>
              </a:rPr>
              <a:t>No stage</a:t>
            </a:r>
            <a:endParaRPr lang="en-US" sz="1200" dirty="0"/>
          </a:p>
        </p:txBody>
      </p:sp>
      <p:sp>
        <p:nvSpPr>
          <p:cNvPr id="12" name="Text 10"/>
          <p:cNvSpPr/>
          <p:nvPr/>
        </p:nvSpPr>
        <p:spPr>
          <a:xfrm>
            <a:off x="952500" y="3635586"/>
            <a:ext cx="1401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Not applicable</a:t>
            </a:r>
            <a:endParaRPr lang="en-US" sz="1200" dirty="0"/>
          </a:p>
        </p:txBody>
      </p:sp>
      <p:sp>
        <p:nvSpPr>
          <p:cNvPr id="13" name="Shape 11"/>
          <p:cNvSpPr/>
          <p:nvPr/>
        </p:nvSpPr>
        <p:spPr>
          <a:xfrm>
            <a:off x="2595033" y="2483696"/>
            <a:ext cx="1629833" cy="1983740"/>
          </a:xfrm>
          <a:prstGeom prst="roundRect">
            <a:avLst>
              <a:gd name="adj" fmla="val 3896"/>
            </a:avLst>
          </a:prstGeom>
          <a:solidFill>
            <a:srgbClr val="1E2E36"/>
          </a:solidFill>
          <a:ln/>
        </p:spPr>
      </p:sp>
      <p:sp>
        <p:nvSpPr>
          <p:cNvPr id="14" name="Text 12"/>
          <p:cNvSpPr/>
          <p:nvPr/>
        </p:nvSpPr>
        <p:spPr>
          <a:xfrm>
            <a:off x="2734733" y="2648796"/>
            <a:ext cx="1401233" cy="368300"/>
          </a:xfrm>
          <a:prstGeom prst="rect">
            <a:avLst/>
          </a:prstGeom>
          <a:noFill/>
          <a:ln/>
        </p:spPr>
        <p:txBody>
          <a:bodyPr wrap="square" lIns="0" tIns="0" rIns="0" bIns="0" rtlCol="0" anchor="t">
            <a:normAutofit/>
          </a:bodyPr>
          <a:lstStyle/>
          <a:p>
            <a:pPr algn="l" indent="0" marL="0">
              <a:lnSpc>
                <a:spcPts val="2700"/>
              </a:lnSpc>
              <a:buNone/>
            </a:pPr>
            <a:r>
              <a:rPr lang="en-US" sz="2700" dirty="0">
                <a:solidFill>
                  <a:srgbClr val="7E9198"/>
                </a:solidFill>
                <a:latin typeface="Source Serif 4" pitchFamily="18" charset="0"/>
                <a:ea typeface="Source Serif 4" pitchFamily="18" charset="-122"/>
                <a:cs typeface="Source Serif 4" pitchFamily="18" charset="-120"/>
              </a:rPr>
              <a:t>1</a:t>
            </a:r>
            <a:endParaRPr lang="en-US" sz="2700" dirty="0"/>
          </a:p>
        </p:txBody>
      </p:sp>
      <p:sp>
        <p:nvSpPr>
          <p:cNvPr id="15" name="Text 13"/>
          <p:cNvSpPr/>
          <p:nvPr/>
        </p:nvSpPr>
        <p:spPr>
          <a:xfrm>
            <a:off x="2734733" y="3055196"/>
            <a:ext cx="1401233"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2F0EA"/>
                </a:solidFill>
                <a:latin typeface="IBM Plex Sans" pitchFamily="34" charset="0"/>
                <a:ea typeface="IBM Plex Sans" pitchFamily="34" charset="-122"/>
                <a:cs typeface="IBM Plex Sans" pitchFamily="34" charset="-120"/>
              </a:rPr>
              <a:t>Awareness</a:t>
            </a:r>
            <a:endParaRPr lang="en-US" sz="1350" dirty="0"/>
          </a:p>
        </p:txBody>
      </p:sp>
      <p:sp>
        <p:nvSpPr>
          <p:cNvPr id="16" name="Text 14"/>
          <p:cNvSpPr/>
          <p:nvPr/>
        </p:nvSpPr>
        <p:spPr>
          <a:xfrm>
            <a:off x="2734733" y="3358725"/>
            <a:ext cx="1401233"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A7BAC0"/>
                </a:solidFill>
                <a:latin typeface="IBM Plex Sans" pitchFamily="34" charset="0"/>
                <a:ea typeface="IBM Plex Sans" pitchFamily="34" charset="-122"/>
                <a:cs typeface="IBM Plex Sans" pitchFamily="34" charset="-120"/>
              </a:rPr>
              <a:t>Novice</a:t>
            </a:r>
            <a:endParaRPr lang="en-US" sz="1200" dirty="0"/>
          </a:p>
        </p:txBody>
      </p:sp>
      <p:sp>
        <p:nvSpPr>
          <p:cNvPr id="17" name="Text 15"/>
          <p:cNvSpPr/>
          <p:nvPr/>
        </p:nvSpPr>
        <p:spPr>
          <a:xfrm>
            <a:off x="2734733" y="3635586"/>
            <a:ext cx="1401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Under training</a:t>
            </a:r>
            <a:endParaRPr lang="en-US" sz="1200" dirty="0"/>
          </a:p>
        </p:txBody>
      </p:sp>
      <p:sp>
        <p:nvSpPr>
          <p:cNvPr id="18" name="Shape 16"/>
          <p:cNvSpPr/>
          <p:nvPr/>
        </p:nvSpPr>
        <p:spPr>
          <a:xfrm>
            <a:off x="4377267" y="2483696"/>
            <a:ext cx="1629833" cy="1983740"/>
          </a:xfrm>
          <a:prstGeom prst="roundRect">
            <a:avLst>
              <a:gd name="adj" fmla="val 3896"/>
            </a:avLst>
          </a:prstGeom>
          <a:solidFill>
            <a:srgbClr val="1E2E36"/>
          </a:solidFill>
          <a:ln/>
        </p:spPr>
      </p:sp>
      <p:sp>
        <p:nvSpPr>
          <p:cNvPr id="19" name="Text 17"/>
          <p:cNvSpPr/>
          <p:nvPr/>
        </p:nvSpPr>
        <p:spPr>
          <a:xfrm>
            <a:off x="4516967" y="2648796"/>
            <a:ext cx="1401233" cy="368300"/>
          </a:xfrm>
          <a:prstGeom prst="rect">
            <a:avLst/>
          </a:prstGeom>
          <a:noFill/>
          <a:ln/>
        </p:spPr>
        <p:txBody>
          <a:bodyPr wrap="square" lIns="0" tIns="0" rIns="0" bIns="0" rtlCol="0" anchor="t">
            <a:normAutofit/>
          </a:bodyPr>
          <a:lstStyle/>
          <a:p>
            <a:pPr algn="l" indent="0" marL="0">
              <a:lnSpc>
                <a:spcPts val="2700"/>
              </a:lnSpc>
              <a:buNone/>
            </a:pPr>
            <a:r>
              <a:rPr lang="en-US" sz="2700" dirty="0">
                <a:solidFill>
                  <a:srgbClr val="7E9198"/>
                </a:solidFill>
                <a:latin typeface="Source Serif 4" pitchFamily="18" charset="0"/>
                <a:ea typeface="Source Serif 4" pitchFamily="18" charset="-122"/>
                <a:cs typeface="Source Serif 4" pitchFamily="18" charset="-120"/>
              </a:rPr>
              <a:t>2</a:t>
            </a:r>
            <a:endParaRPr lang="en-US" sz="2700" dirty="0"/>
          </a:p>
        </p:txBody>
      </p:sp>
      <p:sp>
        <p:nvSpPr>
          <p:cNvPr id="20" name="Text 18"/>
          <p:cNvSpPr/>
          <p:nvPr/>
        </p:nvSpPr>
        <p:spPr>
          <a:xfrm>
            <a:off x="4516967" y="3055196"/>
            <a:ext cx="1401233"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2F0EA"/>
                </a:solidFill>
                <a:latin typeface="IBM Plex Sans" pitchFamily="34" charset="0"/>
                <a:ea typeface="IBM Plex Sans" pitchFamily="34" charset="-122"/>
                <a:cs typeface="IBM Plex Sans" pitchFamily="34" charset="-120"/>
              </a:rPr>
              <a:t>Guided practice</a:t>
            </a:r>
            <a:endParaRPr lang="en-US" sz="1350" dirty="0"/>
          </a:p>
        </p:txBody>
      </p:sp>
      <p:sp>
        <p:nvSpPr>
          <p:cNvPr id="21" name="Text 19"/>
          <p:cNvSpPr/>
          <p:nvPr/>
        </p:nvSpPr>
        <p:spPr>
          <a:xfrm>
            <a:off x="4516967" y="3358725"/>
            <a:ext cx="1401233"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A7BAC0"/>
                </a:solidFill>
                <a:latin typeface="IBM Plex Sans" pitchFamily="34" charset="0"/>
                <a:ea typeface="IBM Plex Sans" pitchFamily="34" charset="-122"/>
                <a:cs typeface="IBM Plex Sans" pitchFamily="34" charset="-120"/>
              </a:rPr>
              <a:t>Advanced beginner</a:t>
            </a:r>
            <a:endParaRPr lang="en-US" sz="1200" dirty="0"/>
          </a:p>
        </p:txBody>
      </p:sp>
      <p:sp>
        <p:nvSpPr>
          <p:cNvPr id="22" name="Text 20"/>
          <p:cNvSpPr/>
          <p:nvPr/>
        </p:nvSpPr>
        <p:spPr>
          <a:xfrm>
            <a:off x="4516967" y="3635586"/>
            <a:ext cx="1401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Supervised</a:t>
            </a:r>
            <a:endParaRPr lang="en-US" sz="1200" dirty="0"/>
          </a:p>
        </p:txBody>
      </p:sp>
      <p:sp>
        <p:nvSpPr>
          <p:cNvPr id="23" name="Shape 21"/>
          <p:cNvSpPr/>
          <p:nvPr/>
        </p:nvSpPr>
        <p:spPr>
          <a:xfrm>
            <a:off x="6159500" y="2483696"/>
            <a:ext cx="1655233" cy="1983740"/>
          </a:xfrm>
          <a:prstGeom prst="roundRect">
            <a:avLst>
              <a:gd name="adj" fmla="val 3836"/>
            </a:avLst>
          </a:prstGeom>
          <a:solidFill>
            <a:srgbClr val="1E2E36"/>
          </a:solidFill>
          <a:ln/>
        </p:spPr>
      </p:sp>
      <p:sp>
        <p:nvSpPr>
          <p:cNvPr id="24" name="Shape 22"/>
          <p:cNvSpPr/>
          <p:nvPr/>
        </p:nvSpPr>
        <p:spPr>
          <a:xfrm>
            <a:off x="6159500" y="2483696"/>
            <a:ext cx="1655233" cy="1983740"/>
          </a:xfrm>
          <a:custGeom>
            <a:avLst/>
            <a:gdLst/>
            <a:ahLst/>
            <a:cxnLst/>
            <a:rect l="l" t="t" r="r" b="b"/>
            <a:pathLst>
              <a:path w="1655233" h="1983740">
                <a:moveTo>
                  <a:pt x="63500" y="1983740"/>
                </a:moveTo>
                <a:lnTo>
                  <a:pt x="63500" y="1983740"/>
                </a:lnTo>
                <a:arcTo hR="63500" wR="63500" stAng="5400000" swAng="5400000"/>
                <a:lnTo>
                  <a:pt x="0" y="63500"/>
                </a:lnTo>
                <a:arcTo hR="63500" wR="63500" stAng="10800000" swAng="5400000"/>
                <a:lnTo>
                  <a:pt x="63500" y="0"/>
                </a:lnTo>
                <a:arcTo hR="63500" wR="38100" stAng="16200000" swAng="-5400000"/>
                <a:lnTo>
                  <a:pt x="25400" y="1920240"/>
                </a:lnTo>
                <a:arcTo hR="63500" wR="38100" stAng="10800000" swAng="-5400000"/>
                <a:close/>
              </a:path>
            </a:pathLst>
          </a:custGeom>
          <a:solidFill>
            <a:srgbClr val="B9A0DA"/>
          </a:solidFill>
          <a:ln/>
        </p:spPr>
      </p:sp>
      <p:sp>
        <p:nvSpPr>
          <p:cNvPr id="25" name="Text 23"/>
          <p:cNvSpPr/>
          <p:nvPr/>
        </p:nvSpPr>
        <p:spPr>
          <a:xfrm>
            <a:off x="6324600" y="2648796"/>
            <a:ext cx="1401233" cy="368300"/>
          </a:xfrm>
          <a:prstGeom prst="rect">
            <a:avLst/>
          </a:prstGeom>
          <a:noFill/>
          <a:ln/>
        </p:spPr>
        <p:txBody>
          <a:bodyPr wrap="square" lIns="0" tIns="0" rIns="0" bIns="0" rtlCol="0" anchor="t">
            <a:normAutofit/>
          </a:bodyPr>
          <a:lstStyle/>
          <a:p>
            <a:pPr algn="l" indent="0" marL="0">
              <a:lnSpc>
                <a:spcPts val="2700"/>
              </a:lnSpc>
              <a:buNone/>
            </a:pPr>
            <a:r>
              <a:rPr lang="en-US" sz="2700" dirty="0">
                <a:solidFill>
                  <a:srgbClr val="B9A0DA"/>
                </a:solidFill>
                <a:latin typeface="Source Serif 4" pitchFamily="18" charset="0"/>
                <a:ea typeface="Source Serif 4" pitchFamily="18" charset="-122"/>
                <a:cs typeface="Source Serif 4" pitchFamily="18" charset="-120"/>
              </a:rPr>
              <a:t>3</a:t>
            </a:r>
            <a:endParaRPr lang="en-US" sz="2700" dirty="0"/>
          </a:p>
        </p:txBody>
      </p:sp>
      <p:sp>
        <p:nvSpPr>
          <p:cNvPr id="26" name="Text 24"/>
          <p:cNvSpPr/>
          <p:nvPr/>
        </p:nvSpPr>
        <p:spPr>
          <a:xfrm>
            <a:off x="6324600" y="3055196"/>
            <a:ext cx="1401233"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2F0EA"/>
                </a:solidFill>
                <a:latin typeface="IBM Plex Sans" pitchFamily="34" charset="0"/>
                <a:ea typeface="IBM Plex Sans" pitchFamily="34" charset="-122"/>
                <a:cs typeface="IBM Plex Sans" pitchFamily="34" charset="-120"/>
              </a:rPr>
              <a:t>Independent practice</a:t>
            </a:r>
            <a:endParaRPr lang="en-US" sz="1350" dirty="0"/>
          </a:p>
        </p:txBody>
      </p:sp>
      <p:sp>
        <p:nvSpPr>
          <p:cNvPr id="27" name="Text 25"/>
          <p:cNvSpPr/>
          <p:nvPr/>
        </p:nvSpPr>
        <p:spPr>
          <a:xfrm>
            <a:off x="6324600" y="3598757"/>
            <a:ext cx="1401233"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A7BAC0"/>
                </a:solidFill>
                <a:latin typeface="IBM Plex Sans" pitchFamily="34" charset="0"/>
                <a:ea typeface="IBM Plex Sans" pitchFamily="34" charset="-122"/>
                <a:cs typeface="IBM Plex Sans" pitchFamily="34" charset="-120"/>
              </a:rPr>
              <a:t>Competent</a:t>
            </a:r>
            <a:endParaRPr lang="en-US" sz="1200" dirty="0"/>
          </a:p>
        </p:txBody>
      </p:sp>
      <p:sp>
        <p:nvSpPr>
          <p:cNvPr id="28" name="Text 26"/>
          <p:cNvSpPr/>
          <p:nvPr/>
        </p:nvSpPr>
        <p:spPr>
          <a:xfrm>
            <a:off x="6324600" y="3875618"/>
            <a:ext cx="1401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Authorized</a:t>
            </a:r>
            <a:endParaRPr lang="en-US" sz="1200" dirty="0"/>
          </a:p>
        </p:txBody>
      </p:sp>
      <p:sp>
        <p:nvSpPr>
          <p:cNvPr id="29" name="Shape 27"/>
          <p:cNvSpPr/>
          <p:nvPr/>
        </p:nvSpPr>
        <p:spPr>
          <a:xfrm>
            <a:off x="7967133" y="2483696"/>
            <a:ext cx="1629833" cy="1983740"/>
          </a:xfrm>
          <a:prstGeom prst="roundRect">
            <a:avLst>
              <a:gd name="adj" fmla="val 3896"/>
            </a:avLst>
          </a:prstGeom>
          <a:solidFill>
            <a:srgbClr val="1E2E36"/>
          </a:solidFill>
          <a:ln/>
        </p:spPr>
      </p:sp>
      <p:sp>
        <p:nvSpPr>
          <p:cNvPr id="30" name="Text 28"/>
          <p:cNvSpPr/>
          <p:nvPr/>
        </p:nvSpPr>
        <p:spPr>
          <a:xfrm>
            <a:off x="8106833" y="2648796"/>
            <a:ext cx="1401233" cy="368300"/>
          </a:xfrm>
          <a:prstGeom prst="rect">
            <a:avLst/>
          </a:prstGeom>
          <a:noFill/>
          <a:ln/>
        </p:spPr>
        <p:txBody>
          <a:bodyPr wrap="square" lIns="0" tIns="0" rIns="0" bIns="0" rtlCol="0" anchor="t">
            <a:normAutofit/>
          </a:bodyPr>
          <a:lstStyle/>
          <a:p>
            <a:pPr algn="l" indent="0" marL="0">
              <a:lnSpc>
                <a:spcPts val="2700"/>
              </a:lnSpc>
              <a:buNone/>
            </a:pPr>
            <a:r>
              <a:rPr lang="en-US" sz="2700" dirty="0">
                <a:solidFill>
                  <a:srgbClr val="B9A0DA"/>
                </a:solidFill>
                <a:latin typeface="Source Serif 4" pitchFamily="18" charset="0"/>
                <a:ea typeface="Source Serif 4" pitchFamily="18" charset="-122"/>
                <a:cs typeface="Source Serif 4" pitchFamily="18" charset="-120"/>
              </a:rPr>
              <a:t>4</a:t>
            </a:r>
            <a:endParaRPr lang="en-US" sz="2700" dirty="0"/>
          </a:p>
        </p:txBody>
      </p:sp>
      <p:sp>
        <p:nvSpPr>
          <p:cNvPr id="31" name="Text 29"/>
          <p:cNvSpPr/>
          <p:nvPr/>
        </p:nvSpPr>
        <p:spPr>
          <a:xfrm>
            <a:off x="8106833" y="3055196"/>
            <a:ext cx="1401233" cy="50546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2F0EA"/>
                </a:solidFill>
                <a:latin typeface="IBM Plex Sans" pitchFamily="34" charset="0"/>
                <a:ea typeface="IBM Plex Sans" pitchFamily="34" charset="-122"/>
                <a:cs typeface="IBM Plex Sans" pitchFamily="34" charset="-120"/>
              </a:rPr>
              <a:t>Advanced, mentor</a:t>
            </a:r>
            <a:endParaRPr lang="en-US" sz="1350" dirty="0"/>
          </a:p>
        </p:txBody>
      </p:sp>
      <p:sp>
        <p:nvSpPr>
          <p:cNvPr id="32" name="Text 30"/>
          <p:cNvSpPr/>
          <p:nvPr/>
        </p:nvSpPr>
        <p:spPr>
          <a:xfrm>
            <a:off x="8106833" y="3598757"/>
            <a:ext cx="1401233"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A7BAC0"/>
                </a:solidFill>
                <a:latin typeface="IBM Plex Sans" pitchFamily="34" charset="0"/>
                <a:ea typeface="IBM Plex Sans" pitchFamily="34" charset="-122"/>
                <a:cs typeface="IBM Plex Sans" pitchFamily="34" charset="-120"/>
              </a:rPr>
              <a:t>Proficient</a:t>
            </a:r>
            <a:endParaRPr lang="en-US" sz="1200" dirty="0"/>
          </a:p>
        </p:txBody>
      </p:sp>
      <p:sp>
        <p:nvSpPr>
          <p:cNvPr id="33" name="Text 31"/>
          <p:cNvSpPr/>
          <p:nvPr/>
        </p:nvSpPr>
        <p:spPr>
          <a:xfrm>
            <a:off x="8106833" y="3875618"/>
            <a:ext cx="14012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Authorized, complex</a:t>
            </a:r>
            <a:endParaRPr lang="en-US" sz="1200" dirty="0"/>
          </a:p>
        </p:txBody>
      </p:sp>
      <p:sp>
        <p:nvSpPr>
          <p:cNvPr id="34" name="Shape 32"/>
          <p:cNvSpPr/>
          <p:nvPr/>
        </p:nvSpPr>
        <p:spPr>
          <a:xfrm>
            <a:off x="9749367" y="2483696"/>
            <a:ext cx="1629833" cy="1983740"/>
          </a:xfrm>
          <a:prstGeom prst="roundRect">
            <a:avLst>
              <a:gd name="adj" fmla="val 3896"/>
            </a:avLst>
          </a:prstGeom>
          <a:solidFill>
            <a:srgbClr val="1E2E36"/>
          </a:solidFill>
          <a:ln/>
        </p:spPr>
      </p:sp>
      <p:sp>
        <p:nvSpPr>
          <p:cNvPr id="35" name="Text 33"/>
          <p:cNvSpPr/>
          <p:nvPr/>
        </p:nvSpPr>
        <p:spPr>
          <a:xfrm>
            <a:off x="9889067" y="2648796"/>
            <a:ext cx="1401233" cy="368300"/>
          </a:xfrm>
          <a:prstGeom prst="rect">
            <a:avLst/>
          </a:prstGeom>
          <a:noFill/>
          <a:ln/>
        </p:spPr>
        <p:txBody>
          <a:bodyPr wrap="square" lIns="0" tIns="0" rIns="0" bIns="0" rtlCol="0" anchor="t">
            <a:normAutofit/>
          </a:bodyPr>
          <a:lstStyle/>
          <a:p>
            <a:pPr algn="l" indent="0" marL="0">
              <a:lnSpc>
                <a:spcPts val="2700"/>
              </a:lnSpc>
              <a:buNone/>
            </a:pPr>
            <a:r>
              <a:rPr lang="en-US" sz="2700" dirty="0">
                <a:solidFill>
                  <a:srgbClr val="B9A0DA"/>
                </a:solidFill>
                <a:latin typeface="Source Serif 4" pitchFamily="18" charset="0"/>
                <a:ea typeface="Source Serif 4" pitchFamily="18" charset="-122"/>
                <a:cs typeface="Source Serif 4" pitchFamily="18" charset="-120"/>
              </a:rPr>
              <a:t>5</a:t>
            </a:r>
            <a:endParaRPr lang="en-US" sz="2700" dirty="0"/>
          </a:p>
        </p:txBody>
      </p:sp>
      <p:sp>
        <p:nvSpPr>
          <p:cNvPr id="36" name="Text 34"/>
          <p:cNvSpPr/>
          <p:nvPr/>
        </p:nvSpPr>
        <p:spPr>
          <a:xfrm>
            <a:off x="9889067" y="3055196"/>
            <a:ext cx="1490133"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F2F0EA"/>
                </a:solidFill>
                <a:latin typeface="IBM Plex Sans" pitchFamily="34" charset="0"/>
                <a:ea typeface="IBM Plex Sans" pitchFamily="34" charset="-122"/>
                <a:cs typeface="IBM Plex Sans" pitchFamily="34" charset="-120"/>
              </a:rPr>
              <a:t>Expert, authority</a:t>
            </a:r>
            <a:endParaRPr lang="en-US" sz="1350" dirty="0"/>
          </a:p>
        </p:txBody>
      </p:sp>
      <p:sp>
        <p:nvSpPr>
          <p:cNvPr id="37" name="Text 35"/>
          <p:cNvSpPr/>
          <p:nvPr/>
        </p:nvSpPr>
        <p:spPr>
          <a:xfrm>
            <a:off x="9889067" y="3358725"/>
            <a:ext cx="1401233"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A7BAC0"/>
                </a:solidFill>
                <a:latin typeface="IBM Plex Sans" pitchFamily="34" charset="0"/>
                <a:ea typeface="IBM Plex Sans" pitchFamily="34" charset="-122"/>
                <a:cs typeface="IBM Plex Sans" pitchFamily="34" charset="-120"/>
              </a:rPr>
              <a:t>Expert</a:t>
            </a:r>
            <a:endParaRPr lang="en-US" sz="1200" dirty="0"/>
          </a:p>
        </p:txBody>
      </p:sp>
      <p:sp>
        <p:nvSpPr>
          <p:cNvPr id="38" name="Text 36"/>
          <p:cNvSpPr/>
          <p:nvPr/>
        </p:nvSpPr>
        <p:spPr>
          <a:xfrm>
            <a:off x="9889067" y="3635586"/>
            <a:ext cx="1401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Technical authority</a:t>
            </a:r>
            <a:endParaRPr lang="en-US" sz="1200" dirty="0"/>
          </a:p>
        </p:txBody>
      </p:sp>
      <p:sp>
        <p:nvSpPr>
          <p:cNvPr id="39" name="Text 37"/>
          <p:cNvSpPr/>
          <p:nvPr/>
        </p:nvSpPr>
        <p:spPr>
          <a:xfrm>
            <a:off x="812800" y="5013325"/>
            <a:ext cx="967994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2F0EA"/>
                </a:solidFill>
                <a:latin typeface="IBM Plex Sans" pitchFamily="34" charset="0"/>
                <a:ea typeface="IBM Plex Sans" pitchFamily="34" charset="-122"/>
                <a:cs typeface="IBM Plex Sans" pitchFamily="34" charset="-120"/>
              </a:rPr>
              <a:t>The italic words are stages from the Dreyfus model, which describes how skill actually develops. The lines under them are authorization states from ISO 17025, which describe what the laboratory may permit. Stacking the two is the design decision.</a:t>
            </a:r>
            <a:endParaRPr lang="en-US" sz="1500" dirty="0"/>
          </a:p>
        </p:txBody>
      </p:sp>
      <p:sp>
        <p:nvSpPr>
          <p:cNvPr id="40" name="Text 38"/>
          <p:cNvSpPr/>
          <p:nvPr/>
        </p:nvSpPr>
        <p:spPr>
          <a:xfrm>
            <a:off x="812800" y="6238239"/>
            <a:ext cx="10687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Methodology</a:t>
            </a:r>
            <a:endParaRPr lang="en-US" sz="1200" dirty="0"/>
          </a:p>
        </p:txBody>
      </p:sp>
      <p:sp>
        <p:nvSpPr>
          <p:cNvPr id="41" name="Text 39"/>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Everything turns on the step from 2 to 3</a:t>
            </a:r>
            <a:endParaRPr lang="en-US" sz="3400" dirty="0"/>
          </a:p>
        </p:txBody>
      </p:sp>
      <p:sp>
        <p:nvSpPr>
          <p:cNvPr id="3" name="Shape 1"/>
          <p:cNvSpPr/>
          <p:nvPr/>
        </p:nvSpPr>
        <p:spPr>
          <a:xfrm>
            <a:off x="815975" y="1702541"/>
            <a:ext cx="5118100" cy="1592897"/>
          </a:xfrm>
          <a:prstGeom prst="roundRect">
            <a:avLst>
              <a:gd name="adj" fmla="val 4584"/>
            </a:avLst>
          </a:prstGeom>
          <a:solidFill>
            <a:srgbClr val="FBFAF6"/>
          </a:solidFill>
          <a:ln w="6350">
            <a:solidFill>
              <a:srgbClr val="D3D0C6"/>
            </a:solidFill>
            <a:prstDash val="solid"/>
          </a:ln>
        </p:spPr>
      </p:sp>
      <p:sp>
        <p:nvSpPr>
          <p:cNvPr id="4" name="Text 2"/>
          <p:cNvSpPr/>
          <p:nvPr/>
        </p:nvSpPr>
        <p:spPr>
          <a:xfrm>
            <a:off x="1073150" y="1959716"/>
            <a:ext cx="47418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5646B"/>
                </a:solidFill>
                <a:latin typeface="IBM Plex Sans" pitchFamily="34" charset="0"/>
                <a:ea typeface="IBM Plex Sans" pitchFamily="34" charset="-122"/>
                <a:cs typeface="IBM Plex Sans" pitchFamily="34" charset="-120"/>
              </a:rPr>
              <a:t>At level 2, supervised</a:t>
            </a:r>
            <a:endParaRPr lang="en-US" sz="1600" dirty="0"/>
          </a:p>
        </p:txBody>
      </p:sp>
      <p:sp>
        <p:nvSpPr>
          <p:cNvPr id="5" name="Text 3"/>
          <p:cNvSpPr/>
          <p:nvPr/>
        </p:nvSpPr>
        <p:spPr>
          <a:xfrm>
            <a:off x="1073150" y="2292455"/>
            <a:ext cx="4741863" cy="771207"/>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5646B"/>
                </a:solidFill>
                <a:latin typeface="IBM Plex Sans" pitchFamily="34" charset="0"/>
                <a:ea typeface="IBM Plex Sans" pitchFamily="34" charset="-122"/>
                <a:cs typeface="IBM Plex Sans" pitchFamily="34" charset="-120"/>
              </a:rPr>
              <a:t>Everything the person produces is reviewed by an authorized colleague before it reaches a client. Their name does not carry the result.</a:t>
            </a:r>
            <a:endParaRPr lang="en-US" sz="1350" dirty="0"/>
          </a:p>
        </p:txBody>
      </p:sp>
      <p:sp>
        <p:nvSpPr>
          <p:cNvPr id="6" name="Shape 4"/>
          <p:cNvSpPr/>
          <p:nvPr/>
        </p:nvSpPr>
        <p:spPr>
          <a:xfrm>
            <a:off x="6248400" y="1705716"/>
            <a:ext cx="5124450" cy="1586547"/>
          </a:xfrm>
          <a:prstGeom prst="roundRect">
            <a:avLst>
              <a:gd name="adj" fmla="val 4403"/>
            </a:avLst>
          </a:prstGeom>
          <a:solidFill>
            <a:srgbClr val="FBFAF6"/>
          </a:solidFill>
          <a:ln w="12700">
            <a:solidFill>
              <a:srgbClr val="6B4A8C"/>
            </a:solidFill>
            <a:prstDash val="solid"/>
          </a:ln>
        </p:spPr>
      </p:sp>
      <p:sp>
        <p:nvSpPr>
          <p:cNvPr id="7" name="Text 5"/>
          <p:cNvSpPr/>
          <p:nvPr/>
        </p:nvSpPr>
        <p:spPr>
          <a:xfrm>
            <a:off x="6508750" y="1966066"/>
            <a:ext cx="474186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6B4A8C"/>
                </a:solidFill>
                <a:latin typeface="IBM Plex Sans" pitchFamily="34" charset="0"/>
                <a:ea typeface="IBM Plex Sans" pitchFamily="34" charset="-122"/>
                <a:cs typeface="IBM Plex Sans" pitchFamily="34" charset="-120"/>
              </a:rPr>
              <a:t>At level 3, authorized</a:t>
            </a:r>
            <a:endParaRPr lang="en-US" sz="1600" dirty="0"/>
          </a:p>
        </p:txBody>
      </p:sp>
      <p:sp>
        <p:nvSpPr>
          <p:cNvPr id="8" name="Text 6"/>
          <p:cNvSpPr/>
          <p:nvPr/>
        </p:nvSpPr>
        <p:spPr>
          <a:xfrm>
            <a:off x="6508750" y="2298805"/>
            <a:ext cx="4741863" cy="522605"/>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16232A"/>
                </a:solidFill>
                <a:latin typeface="IBM Plex Sans" pitchFamily="34" charset="0"/>
                <a:ea typeface="IBM Plex Sans" pitchFamily="34" charset="-122"/>
                <a:cs typeface="IBM Plex Sans" pitchFamily="34" charset="-120"/>
              </a:rPr>
              <a:t>They plan, perform and sign off routine work alone. Nothing stands between their judgement and the client.</a:t>
            </a:r>
            <a:endParaRPr lang="en-US" sz="1350" dirty="0"/>
          </a:p>
        </p:txBody>
      </p:sp>
      <p:sp>
        <p:nvSpPr>
          <p:cNvPr id="9" name="Text 7"/>
          <p:cNvSpPr/>
          <p:nvPr/>
        </p:nvSpPr>
        <p:spPr>
          <a:xfrm>
            <a:off x="812800" y="3701625"/>
            <a:ext cx="1088339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6B4A8C"/>
                </a:solidFill>
                <a:latin typeface="IBM Plex Sans" pitchFamily="34" charset="0"/>
                <a:ea typeface="IBM Plex Sans" pitchFamily="34" charset="-122"/>
                <a:cs typeface="IBM Plex Sans" pitchFamily="34" charset="-120"/>
              </a:rPr>
              <a:t>What has to happen in between, in this order</a:t>
            </a:r>
            <a:endParaRPr lang="en-US" sz="1250" dirty="0"/>
          </a:p>
        </p:txBody>
      </p:sp>
      <p:sp>
        <p:nvSpPr>
          <p:cNvPr id="10" name="Text 8"/>
          <p:cNvSpPr/>
          <p:nvPr/>
        </p:nvSpPr>
        <p:spPr>
          <a:xfrm>
            <a:off x="815975" y="4041353"/>
            <a:ext cx="2973917" cy="842010"/>
          </a:xfrm>
          <a:prstGeom prst="roundRect">
            <a:avLst>
              <a:gd name="adj" fmla="val 7164"/>
            </a:avLst>
          </a:prstGeom>
          <a:solidFill>
            <a:srgbClr val="EEE8F4"/>
          </a:solidFill>
          <a:ln w="6350">
            <a:solidFill>
              <a:srgbClr val="C9B2E4"/>
            </a:solidFill>
            <a:prstDash val="solid"/>
          </a:ln>
        </p:spPr>
        <p:txBody>
          <a:bodyPr wrap="square" lIns="163306" tIns="163306" rIns="84947" bIns="137906" rtlCol="0" anchor="t">
            <a:normAutofit/>
          </a:bodyPr>
          <a:lstStyle/>
          <a:p>
            <a:pPr algn="l" indent="0" marL="0">
              <a:lnSpc>
                <a:spcPts val="1890"/>
              </a:lnSpc>
              <a:buNone/>
            </a:pPr>
            <a:r>
              <a:rPr lang="en-US" sz="1350" dirty="0">
                <a:solidFill>
                  <a:srgbClr val="16232A"/>
                </a:solidFill>
                <a:latin typeface="IBM Plex Sans" pitchFamily="34" charset="0"/>
                <a:ea typeface="IBM Plex Sans" pitchFamily="34" charset="-122"/>
                <a:cs typeface="IBM Plex Sans" pitchFamily="34" charset="-120"/>
              </a:rPr>
              <a:t>Supervised work on real engagements</a:t>
            </a:r>
            <a:endParaRPr lang="en-US" sz="1350" dirty="0"/>
          </a:p>
        </p:txBody>
      </p:sp>
      <p:pic>
        <p:nvPicPr>
          <p:cNvPr id="11" name="Image 0" descr="connector">    </p:cNvPr>
          <p:cNvPicPr>
            <a:picLocks noChangeAspect="1"/>
          </p:cNvPicPr>
          <p:nvPr/>
        </p:nvPicPr>
        <p:blipFill>
          <a:blip r:embed="rId1"/>
          <a:srcRect l="0" r="0" t="0" b="0"/>
          <a:stretch/>
        </p:blipFill>
        <p:spPr>
          <a:xfrm>
            <a:off x="3939117" y="4411557"/>
            <a:ext cx="520700" cy="101600"/>
          </a:xfrm>
          <a:prstGeom prst="rect">
            <a:avLst/>
          </a:prstGeom>
        </p:spPr>
      </p:pic>
      <p:sp>
        <p:nvSpPr>
          <p:cNvPr id="12" name="Text 9"/>
          <p:cNvSpPr/>
          <p:nvPr/>
        </p:nvSpPr>
        <p:spPr>
          <a:xfrm>
            <a:off x="4609042" y="4041353"/>
            <a:ext cx="2973917" cy="842010"/>
          </a:xfrm>
          <a:prstGeom prst="roundRect">
            <a:avLst>
              <a:gd name="adj" fmla="val 7164"/>
            </a:avLst>
          </a:prstGeom>
          <a:solidFill>
            <a:srgbClr val="EEE8F4"/>
          </a:solidFill>
          <a:ln w="6350">
            <a:solidFill>
              <a:srgbClr val="C9B2E4"/>
            </a:solidFill>
            <a:prstDash val="solid"/>
          </a:ln>
        </p:spPr>
        <p:txBody>
          <a:bodyPr wrap="square" lIns="163306" tIns="163306" rIns="84947" bIns="163306" rtlCol="0" anchor="t">
            <a:normAutofit/>
          </a:bodyPr>
          <a:lstStyle/>
          <a:p>
            <a:pPr algn="l" indent="0" marL="0">
              <a:lnSpc>
                <a:spcPts val="1890"/>
              </a:lnSpc>
              <a:buNone/>
            </a:pPr>
            <a:r>
              <a:rPr lang="en-US" sz="1350" dirty="0">
                <a:solidFill>
                  <a:srgbClr val="16232A"/>
                </a:solidFill>
                <a:latin typeface="IBM Plex Sans" pitchFamily="34" charset="0"/>
                <a:ea typeface="IBM Plex Sans" pitchFamily="34" charset="-122"/>
                <a:cs typeface="IBM Plex Sans" pitchFamily="34" charset="-120"/>
              </a:rPr>
              <a:t>A passed proficiency assessment</a:t>
            </a:r>
            <a:endParaRPr lang="en-US" sz="1350" dirty="0"/>
          </a:p>
        </p:txBody>
      </p:sp>
      <p:pic>
        <p:nvPicPr>
          <p:cNvPr id="13" name="Image 1" descr="connector">    </p:cNvPr>
          <p:cNvPicPr>
            <a:picLocks noChangeAspect="1"/>
          </p:cNvPicPr>
          <p:nvPr/>
        </p:nvPicPr>
        <p:blipFill>
          <a:blip r:embed="rId2"/>
          <a:srcRect l="0" r="0" t="0" b="0"/>
          <a:stretch/>
        </p:blipFill>
        <p:spPr>
          <a:xfrm>
            <a:off x="7732183" y="4411557"/>
            <a:ext cx="520700" cy="101600"/>
          </a:xfrm>
          <a:prstGeom prst="rect">
            <a:avLst/>
          </a:prstGeom>
        </p:spPr>
      </p:pic>
      <p:sp>
        <p:nvSpPr>
          <p:cNvPr id="14" name="Text 10"/>
          <p:cNvSpPr/>
          <p:nvPr/>
        </p:nvSpPr>
        <p:spPr>
          <a:xfrm>
            <a:off x="8402108" y="4041353"/>
            <a:ext cx="2973917" cy="842010"/>
          </a:xfrm>
          <a:prstGeom prst="roundRect">
            <a:avLst>
              <a:gd name="adj" fmla="val 7164"/>
            </a:avLst>
          </a:prstGeom>
          <a:solidFill>
            <a:srgbClr val="EEE8F4"/>
          </a:solidFill>
          <a:ln w="6350">
            <a:solidFill>
              <a:srgbClr val="C9B2E4"/>
            </a:solidFill>
            <a:prstDash val="solid"/>
          </a:ln>
        </p:spPr>
        <p:txBody>
          <a:bodyPr wrap="square" lIns="163306" tIns="163306" rIns="84947" bIns="137906" rtlCol="0" anchor="t">
            <a:normAutofit/>
          </a:bodyPr>
          <a:lstStyle/>
          <a:p>
            <a:pPr algn="l" indent="0" marL="0">
              <a:lnSpc>
                <a:spcPts val="1890"/>
              </a:lnSpc>
              <a:buNone/>
            </a:pPr>
            <a:r>
              <a:rPr lang="en-US" sz="1350" dirty="0">
                <a:solidFill>
                  <a:srgbClr val="16232A"/>
                </a:solidFill>
                <a:latin typeface="IBM Plex Sans" pitchFamily="34" charset="0"/>
                <a:ea typeface="IBM Plex Sans" pitchFamily="34" charset="-122"/>
                <a:cs typeface="IBM Plex Sans" pitchFamily="34" charset="-120"/>
              </a:rPr>
              <a:t>An explicit management authorization</a:t>
            </a:r>
            <a:endParaRPr lang="en-US" sz="1350" dirty="0"/>
          </a:p>
        </p:txBody>
      </p:sp>
      <p:sp>
        <p:nvSpPr>
          <p:cNvPr id="15" name="Text 11"/>
          <p:cNvSpPr/>
          <p:nvPr/>
        </p:nvSpPr>
        <p:spPr>
          <a:xfrm>
            <a:off x="812800" y="5289550"/>
            <a:ext cx="941832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Training alone never closes this gap. Expect most of the laboratory's development effort, and most of its frustration, to sit at exactly this boundary.</a:t>
            </a:r>
            <a:endParaRPr lang="en-US" sz="1500" dirty="0"/>
          </a:p>
        </p:txBody>
      </p:sp>
      <p:sp>
        <p:nvSpPr>
          <p:cNvPr id="16" name="Text 12"/>
          <p:cNvSpPr/>
          <p:nvPr/>
        </p:nvSpPr>
        <p:spPr>
          <a:xfrm>
            <a:off x="812800" y="6238242"/>
            <a:ext cx="10687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Methodology</a:t>
            </a:r>
            <a:endParaRPr lang="en-US" sz="1200" dirty="0"/>
          </a:p>
        </p:txBody>
      </p:sp>
      <p:sp>
        <p:nvSpPr>
          <p:cNvPr id="17" name="Text 13"/>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6E3D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The criteria are written before the assessment</a:t>
            </a:r>
            <a:endParaRPr lang="en-US" sz="3400" dirty="0"/>
          </a:p>
        </p:txBody>
      </p:sp>
      <p:sp>
        <p:nvSpPr>
          <p:cNvPr id="3" name="Shape 1"/>
          <p:cNvSpPr/>
          <p:nvPr/>
        </p:nvSpPr>
        <p:spPr>
          <a:xfrm>
            <a:off x="815975" y="1376257"/>
            <a:ext cx="6094730" cy="2725420"/>
          </a:xfrm>
          <a:prstGeom prst="roundRect">
            <a:avLst>
              <a:gd name="adj" fmla="val 2679"/>
            </a:avLst>
          </a:prstGeom>
          <a:solidFill>
            <a:srgbClr val="FBFAF6"/>
          </a:solidFill>
          <a:ln w="6350">
            <a:solidFill>
              <a:srgbClr val="D3D0C6"/>
            </a:solidFill>
            <a:prstDash val="solid"/>
          </a:ln>
        </p:spPr>
      </p:sp>
      <p:sp>
        <p:nvSpPr>
          <p:cNvPr id="4" name="Text 2"/>
          <p:cNvSpPr/>
          <p:nvPr/>
        </p:nvSpPr>
        <p:spPr>
          <a:xfrm>
            <a:off x="819150" y="1379432"/>
            <a:ext cx="6088380" cy="501650"/>
          </a:xfrm>
          <a:custGeom>
            <a:avLst/>
            <a:gdLst/>
            <a:ahLst/>
            <a:cxnLst/>
            <a:rect l="l" t="t" r="r" b="b"/>
            <a:pathLst>
              <a:path w="6088380" h="501650">
                <a:moveTo>
                  <a:pt x="0" y="69850"/>
                </a:moveTo>
                <a:arcTo hR="69850" wR="69850" stAng="10800000" swAng="5400000"/>
                <a:lnTo>
                  <a:pt x="6018530" y="0"/>
                </a:lnTo>
                <a:arcTo hR="69850" wR="69850" stAng="16200000" swAng="5400000"/>
                <a:lnTo>
                  <a:pt x="6088380" y="501650"/>
                </a:lnTo>
                <a:lnTo>
                  <a:pt x="0" y="501650"/>
                </a:lnTo>
                <a:close/>
              </a:path>
            </a:pathLst>
          </a:custGeom>
          <a:solidFill>
            <a:srgbClr val="16232A"/>
          </a:solidFill>
          <a:ln/>
        </p:spPr>
        <p:txBody>
          <a:bodyPr wrap="square" lIns="228600" tIns="139700" rIns="59665" bIns="114300" rtlCol="0" anchor="t">
            <a:normAutofit/>
          </a:bodyPr>
          <a:lstStyle/>
          <a:p>
            <a:pPr algn="l" indent="0" marL="0">
              <a:lnSpc>
                <a:spcPts val="1750"/>
              </a:lnSpc>
              <a:buNone/>
            </a:pPr>
            <a:r>
              <a:rPr lang="en-US" sz="1250" b="1" dirty="0">
                <a:solidFill>
                  <a:srgbClr val="F2F0EA"/>
                </a:solidFill>
                <a:latin typeface="IBM Plex Sans" pitchFamily="34" charset="0"/>
                <a:ea typeface="IBM Plex Sans" pitchFamily="34" charset="-122"/>
                <a:cs typeface="IBM Plex Sans" pitchFamily="34" charset="-120"/>
              </a:rPr>
              <a:t>Differential power analysis, criteria at level 3</a:t>
            </a:r>
            <a:endParaRPr lang="en-US" sz="1250" dirty="0"/>
          </a:p>
        </p:txBody>
      </p:sp>
      <p:sp>
        <p:nvSpPr>
          <p:cNvPr id="5" name="Text 3"/>
          <p:cNvSpPr/>
          <p:nvPr/>
        </p:nvSpPr>
        <p:spPr>
          <a:xfrm>
            <a:off x="1063625" y="2058882"/>
            <a:ext cx="5778906" cy="1803400"/>
          </a:xfrm>
          <a:prstGeom prst="rect">
            <a:avLst/>
          </a:prstGeom>
          <a:noFill/>
          <a:ln/>
        </p:spPr>
        <p:txBody>
          <a:bodyPr wrap="square" lIns="0" tIns="0" rIns="0" bIns="0" rtlCol="0" anchor="t">
            <a:normAutofit/>
          </a:bodyPr>
          <a:lstStyle/>
          <a:p>
            <a:pPr algn="l" marL="161925" indent="-161925">
              <a:lnSpc>
                <a:spcPts val="1750"/>
              </a:lnSpc>
              <a:buSzPct val="100000"/>
              <a:buChar char="•"/>
            </a:pPr>
            <a:r>
              <a:rPr lang="en-US" sz="1250" dirty="0">
                <a:solidFill>
                  <a:srgbClr val="16232A"/>
                </a:solidFill>
                <a:latin typeface="IBM Plex Sans" pitchFamily="34" charset="0"/>
                <a:ea typeface="IBM Plex Sans" pitchFamily="34" charset="-122"/>
                <a:cs typeface="IBM Plex Sans" pitchFamily="34" charset="-120"/>
              </a:rPr>
              <a:t>Designs trace acquisition campaigns (trigger setup, trace count estimation, sampling parameters)</a:t>
            </a:r>
            <a:endParaRPr lang="en-US" sz="1250" dirty="0"/>
          </a:p>
          <a:p>
            <a:pPr algn="l" marL="161925" indent="-161925">
              <a:lnSpc>
                <a:spcPts val="1750"/>
              </a:lnSpc>
              <a:buSzPct val="100000"/>
              <a:buChar char="•"/>
            </a:pPr>
            <a:r>
              <a:rPr lang="en-US" sz="1250" dirty="0">
                <a:solidFill>
                  <a:srgbClr val="16232A"/>
                </a:solidFill>
                <a:latin typeface="IBM Plex Sans" pitchFamily="34" charset="0"/>
                <a:ea typeface="IBM Plex Sans" pitchFamily="34" charset="-122"/>
                <a:cs typeface="IBM Plex Sans" pitchFamily="34" charset="-120"/>
              </a:rPr>
              <a:t>Applies appropriate leakage models (HW, HD, identity) and selects optimal attack points</a:t>
            </a:r>
            <a:endParaRPr lang="en-US" sz="1250" dirty="0"/>
          </a:p>
          <a:p>
            <a:pPr algn="l" marL="161925" indent="-161925">
              <a:lnSpc>
                <a:spcPts val="1750"/>
              </a:lnSpc>
              <a:buSzPct val="100000"/>
              <a:buChar char="•"/>
            </a:pPr>
            <a:r>
              <a:rPr lang="en-US" sz="1250" dirty="0">
                <a:solidFill>
                  <a:srgbClr val="16232A"/>
                </a:solidFill>
                <a:latin typeface="IBM Plex Sans" pitchFamily="34" charset="0"/>
                <a:ea typeface="IBM Plex Sans" pitchFamily="34" charset="-122"/>
                <a:cs typeface="IBM Plex Sans" pitchFamily="34" charset="-120"/>
              </a:rPr>
              <a:t>Recovers full AES keys from unprotected and lightly protected implementations independently</a:t>
            </a:r>
            <a:endParaRPr lang="en-US" sz="1250" dirty="0"/>
          </a:p>
          <a:p>
            <a:pPr algn="l" marL="161925" indent="-161925">
              <a:lnSpc>
                <a:spcPts val="1750"/>
              </a:lnSpc>
              <a:buSzPct val="100000"/>
              <a:buChar char="•"/>
            </a:pPr>
            <a:r>
              <a:rPr lang="en-US" sz="1250" dirty="0">
                <a:solidFill>
                  <a:srgbClr val="16232A"/>
                </a:solidFill>
                <a:latin typeface="IBM Plex Sans" pitchFamily="34" charset="0"/>
                <a:ea typeface="IBM Plex Sans" pitchFamily="34" charset="-122"/>
                <a:cs typeface="IBM Plex Sans" pitchFamily="34" charset="-120"/>
              </a:rPr>
              <a:t>Evaluates attack results using key rank estimation and success metrics</a:t>
            </a:r>
            <a:endParaRPr lang="en-US" sz="1250" dirty="0"/>
          </a:p>
          <a:p>
            <a:pPr algn="l" marL="161925" indent="-161925">
              <a:lnSpc>
                <a:spcPts val="1750"/>
              </a:lnSpc>
              <a:buSzPct val="100000"/>
              <a:buChar char="•"/>
            </a:pPr>
            <a:r>
              <a:rPr lang="en-US" sz="1250" dirty="0">
                <a:solidFill>
                  <a:srgbClr val="16232A"/>
                </a:solidFill>
                <a:latin typeface="IBM Plex Sans" pitchFamily="34" charset="0"/>
                <a:ea typeface="IBM Plex Sans" pitchFamily="34" charset="-122"/>
                <a:cs typeface="IBM Plex Sans" pitchFamily="34" charset="-120"/>
              </a:rPr>
              <a:t>Produced DPA/CPA reports on 3+ real engagements meeting lab standards</a:t>
            </a:r>
            <a:endParaRPr lang="en-US" sz="1250" dirty="0"/>
          </a:p>
        </p:txBody>
      </p:sp>
      <p:sp>
        <p:nvSpPr>
          <p:cNvPr id="6" name="Text 4"/>
          <p:cNvSpPr/>
          <p:nvPr/>
        </p:nvSpPr>
        <p:spPr>
          <a:xfrm>
            <a:off x="7320280" y="1373082"/>
            <a:ext cx="418068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6B4A8C"/>
                </a:solidFill>
                <a:latin typeface="IBM Plex Sans" pitchFamily="34" charset="0"/>
                <a:ea typeface="IBM Plex Sans" pitchFamily="34" charset="-122"/>
                <a:cs typeface="IBM Plex Sans" pitchFamily="34" charset="-120"/>
              </a:rPr>
              <a:t>Four ways to establish a level</a:t>
            </a:r>
            <a:endParaRPr lang="en-US" sz="1250" dirty="0"/>
          </a:p>
        </p:txBody>
      </p:sp>
      <p:sp>
        <p:nvSpPr>
          <p:cNvPr id="7" name="Shape 5"/>
          <p:cNvSpPr/>
          <p:nvPr/>
        </p:nvSpPr>
        <p:spPr>
          <a:xfrm>
            <a:off x="7323455" y="1725507"/>
            <a:ext cx="1959610" cy="1121410"/>
          </a:xfrm>
          <a:prstGeom prst="roundRect">
            <a:avLst>
              <a:gd name="adj" fmla="val 5379"/>
            </a:avLst>
          </a:prstGeom>
          <a:solidFill>
            <a:srgbClr val="FBFAF6"/>
          </a:solidFill>
          <a:ln w="6350">
            <a:solidFill>
              <a:srgbClr val="D3D0C6"/>
            </a:solidFill>
            <a:prstDash val="solid"/>
          </a:ln>
        </p:spPr>
      </p:sp>
      <p:sp>
        <p:nvSpPr>
          <p:cNvPr id="8" name="Text 6"/>
          <p:cNvSpPr/>
          <p:nvPr/>
        </p:nvSpPr>
        <p:spPr>
          <a:xfrm>
            <a:off x="7479030" y="1881082"/>
            <a:ext cx="16992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32A"/>
                </a:solidFill>
                <a:latin typeface="IBM Plex Sans" pitchFamily="34" charset="0"/>
                <a:ea typeface="IBM Plex Sans" pitchFamily="34" charset="-122"/>
                <a:cs typeface="IBM Plex Sans" pitchFamily="34" charset="-120"/>
              </a:rPr>
              <a:t>Controlled exercise</a:t>
            </a:r>
            <a:endParaRPr lang="en-US" sz="1200" dirty="0"/>
          </a:p>
        </p:txBody>
      </p:sp>
      <p:sp>
        <p:nvSpPr>
          <p:cNvPr id="9" name="Text 7"/>
          <p:cNvSpPr/>
          <p:nvPr/>
        </p:nvSpPr>
        <p:spPr>
          <a:xfrm>
            <a:off x="7479030" y="2132540"/>
            <a:ext cx="1699260" cy="33274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6B4A8C"/>
                </a:solidFill>
                <a:latin typeface="Source Serif 4" pitchFamily="18" charset="0"/>
                <a:ea typeface="Source Serif 4" pitchFamily="18" charset="-122"/>
                <a:cs typeface="Source Serif 4" pitchFamily="18" charset="-120"/>
              </a:rPr>
              <a:t>252</a:t>
            </a:r>
            <a:endParaRPr lang="en-US" sz="2200" dirty="0"/>
          </a:p>
        </p:txBody>
      </p:sp>
      <p:sp>
        <p:nvSpPr>
          <p:cNvPr id="10" name="Text 8"/>
          <p:cNvSpPr/>
          <p:nvPr/>
        </p:nvSpPr>
        <p:spPr>
          <a:xfrm>
            <a:off x="7479030" y="2477982"/>
            <a:ext cx="16992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skills</a:t>
            </a:r>
            <a:endParaRPr lang="en-US" sz="1200" dirty="0"/>
          </a:p>
        </p:txBody>
      </p:sp>
      <p:sp>
        <p:nvSpPr>
          <p:cNvPr id="11" name="Shape 9"/>
          <p:cNvSpPr/>
          <p:nvPr/>
        </p:nvSpPr>
        <p:spPr>
          <a:xfrm>
            <a:off x="9416415" y="1725507"/>
            <a:ext cx="1959610" cy="1121410"/>
          </a:xfrm>
          <a:prstGeom prst="roundRect">
            <a:avLst>
              <a:gd name="adj" fmla="val 5379"/>
            </a:avLst>
          </a:prstGeom>
          <a:solidFill>
            <a:srgbClr val="FBFAF6"/>
          </a:solidFill>
          <a:ln w="6350">
            <a:solidFill>
              <a:srgbClr val="D3D0C6"/>
            </a:solidFill>
            <a:prstDash val="solid"/>
          </a:ln>
        </p:spPr>
      </p:sp>
      <p:sp>
        <p:nvSpPr>
          <p:cNvPr id="12" name="Text 10"/>
          <p:cNvSpPr/>
          <p:nvPr/>
        </p:nvSpPr>
        <p:spPr>
          <a:xfrm>
            <a:off x="9571990" y="1881082"/>
            <a:ext cx="16992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32A"/>
                </a:solidFill>
                <a:latin typeface="IBM Plex Sans" pitchFamily="34" charset="0"/>
                <a:ea typeface="IBM Plex Sans" pitchFamily="34" charset="-122"/>
                <a:cs typeface="IBM Plex Sans" pitchFamily="34" charset="-120"/>
              </a:rPr>
              <a:t>Work-product review</a:t>
            </a:r>
            <a:endParaRPr lang="en-US" sz="1200" dirty="0"/>
          </a:p>
        </p:txBody>
      </p:sp>
      <p:sp>
        <p:nvSpPr>
          <p:cNvPr id="13" name="Text 11"/>
          <p:cNvSpPr/>
          <p:nvPr/>
        </p:nvSpPr>
        <p:spPr>
          <a:xfrm>
            <a:off x="9571990" y="2132540"/>
            <a:ext cx="1699260" cy="33274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6B4A8C"/>
                </a:solidFill>
                <a:latin typeface="Source Serif 4" pitchFamily="18" charset="0"/>
                <a:ea typeface="Source Serif 4" pitchFamily="18" charset="-122"/>
                <a:cs typeface="Source Serif 4" pitchFamily="18" charset="-120"/>
              </a:rPr>
              <a:t>179</a:t>
            </a:r>
            <a:endParaRPr lang="en-US" sz="2200" dirty="0"/>
          </a:p>
        </p:txBody>
      </p:sp>
      <p:sp>
        <p:nvSpPr>
          <p:cNvPr id="14" name="Text 12"/>
          <p:cNvSpPr/>
          <p:nvPr/>
        </p:nvSpPr>
        <p:spPr>
          <a:xfrm>
            <a:off x="9571990" y="2477982"/>
            <a:ext cx="16992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skills</a:t>
            </a:r>
            <a:endParaRPr lang="en-US" sz="1200" dirty="0"/>
          </a:p>
        </p:txBody>
      </p:sp>
      <p:sp>
        <p:nvSpPr>
          <p:cNvPr id="15" name="Shape 13"/>
          <p:cNvSpPr/>
          <p:nvPr/>
        </p:nvSpPr>
        <p:spPr>
          <a:xfrm>
            <a:off x="7323455" y="2980265"/>
            <a:ext cx="1959610" cy="1121410"/>
          </a:xfrm>
          <a:prstGeom prst="roundRect">
            <a:avLst>
              <a:gd name="adj" fmla="val 5379"/>
            </a:avLst>
          </a:prstGeom>
          <a:solidFill>
            <a:srgbClr val="FBFAF6"/>
          </a:solidFill>
          <a:ln w="6350">
            <a:solidFill>
              <a:srgbClr val="D3D0C6"/>
            </a:solidFill>
            <a:prstDash val="solid"/>
          </a:ln>
        </p:spPr>
      </p:sp>
      <p:sp>
        <p:nvSpPr>
          <p:cNvPr id="16" name="Text 14"/>
          <p:cNvSpPr/>
          <p:nvPr/>
        </p:nvSpPr>
        <p:spPr>
          <a:xfrm>
            <a:off x="7479030" y="3135840"/>
            <a:ext cx="16992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32A"/>
                </a:solidFill>
                <a:latin typeface="IBM Plex Sans" pitchFamily="34" charset="0"/>
                <a:ea typeface="IBM Plex Sans" pitchFamily="34" charset="-122"/>
                <a:cs typeface="IBM Plex Sans" pitchFamily="34" charset="-120"/>
              </a:rPr>
              <a:t>Problem solving</a:t>
            </a:r>
            <a:endParaRPr lang="en-US" sz="1200" dirty="0"/>
          </a:p>
        </p:txBody>
      </p:sp>
      <p:sp>
        <p:nvSpPr>
          <p:cNvPr id="17" name="Text 15"/>
          <p:cNvSpPr/>
          <p:nvPr/>
        </p:nvSpPr>
        <p:spPr>
          <a:xfrm>
            <a:off x="7479030" y="3387303"/>
            <a:ext cx="1699260" cy="33274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6B4A8C"/>
                </a:solidFill>
                <a:latin typeface="Source Serif 4" pitchFamily="18" charset="0"/>
                <a:ea typeface="Source Serif 4" pitchFamily="18" charset="-122"/>
                <a:cs typeface="Source Serif 4" pitchFamily="18" charset="-120"/>
              </a:rPr>
              <a:t>85</a:t>
            </a:r>
            <a:endParaRPr lang="en-US" sz="2200" dirty="0"/>
          </a:p>
        </p:txBody>
      </p:sp>
      <p:sp>
        <p:nvSpPr>
          <p:cNvPr id="18" name="Text 16"/>
          <p:cNvSpPr/>
          <p:nvPr/>
        </p:nvSpPr>
        <p:spPr>
          <a:xfrm>
            <a:off x="7479030" y="3732740"/>
            <a:ext cx="16992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skills</a:t>
            </a:r>
            <a:endParaRPr lang="en-US" sz="1200" dirty="0"/>
          </a:p>
        </p:txBody>
      </p:sp>
      <p:sp>
        <p:nvSpPr>
          <p:cNvPr id="19" name="Shape 17"/>
          <p:cNvSpPr/>
          <p:nvPr/>
        </p:nvSpPr>
        <p:spPr>
          <a:xfrm>
            <a:off x="9416415" y="2980265"/>
            <a:ext cx="1959610" cy="1121410"/>
          </a:xfrm>
          <a:prstGeom prst="roundRect">
            <a:avLst>
              <a:gd name="adj" fmla="val 5379"/>
            </a:avLst>
          </a:prstGeom>
          <a:solidFill>
            <a:srgbClr val="FBFAF6"/>
          </a:solidFill>
          <a:ln w="6350">
            <a:solidFill>
              <a:srgbClr val="D3D0C6"/>
            </a:solidFill>
            <a:prstDash val="solid"/>
          </a:ln>
        </p:spPr>
      </p:sp>
      <p:sp>
        <p:nvSpPr>
          <p:cNvPr id="20" name="Text 18"/>
          <p:cNvSpPr/>
          <p:nvPr/>
        </p:nvSpPr>
        <p:spPr>
          <a:xfrm>
            <a:off x="9571990" y="3135840"/>
            <a:ext cx="169926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6232A"/>
                </a:solidFill>
                <a:latin typeface="IBM Plex Sans" pitchFamily="34" charset="0"/>
                <a:ea typeface="IBM Plex Sans" pitchFamily="34" charset="-122"/>
                <a:cs typeface="IBM Plex Sans" pitchFamily="34" charset="-120"/>
              </a:rPr>
              <a:t>Direct observation</a:t>
            </a:r>
            <a:endParaRPr lang="en-US" sz="1200" dirty="0"/>
          </a:p>
        </p:txBody>
      </p:sp>
      <p:sp>
        <p:nvSpPr>
          <p:cNvPr id="21" name="Text 19"/>
          <p:cNvSpPr/>
          <p:nvPr/>
        </p:nvSpPr>
        <p:spPr>
          <a:xfrm>
            <a:off x="9571990" y="3387303"/>
            <a:ext cx="1699260" cy="33274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6B4A8C"/>
                </a:solidFill>
                <a:latin typeface="Source Serif 4" pitchFamily="18" charset="0"/>
                <a:ea typeface="Source Serif 4" pitchFamily="18" charset="-122"/>
                <a:cs typeface="Source Serif 4" pitchFamily="18" charset="-120"/>
              </a:rPr>
              <a:t>46</a:t>
            </a:r>
            <a:endParaRPr lang="en-US" sz="2200" dirty="0"/>
          </a:p>
        </p:txBody>
      </p:sp>
      <p:sp>
        <p:nvSpPr>
          <p:cNvPr id="22" name="Text 20"/>
          <p:cNvSpPr/>
          <p:nvPr/>
        </p:nvSpPr>
        <p:spPr>
          <a:xfrm>
            <a:off x="9571990" y="3732740"/>
            <a:ext cx="16992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skills</a:t>
            </a:r>
            <a:endParaRPr lang="en-US" sz="1200" dirty="0"/>
          </a:p>
        </p:txBody>
      </p:sp>
      <p:sp>
        <p:nvSpPr>
          <p:cNvPr id="23" name="Shape 21"/>
          <p:cNvSpPr/>
          <p:nvPr/>
        </p:nvSpPr>
        <p:spPr>
          <a:xfrm>
            <a:off x="812800" y="4181580"/>
            <a:ext cx="10566400" cy="1031240"/>
          </a:xfrm>
          <a:prstGeom prst="rect">
            <a:avLst/>
          </a:prstGeom>
          <a:solidFill>
            <a:srgbClr val="FBFAF6"/>
          </a:solidFill>
          <a:ln/>
        </p:spPr>
      </p:sp>
      <p:sp>
        <p:nvSpPr>
          <p:cNvPr id="24" name="Shape 22"/>
          <p:cNvSpPr/>
          <p:nvPr/>
        </p:nvSpPr>
        <p:spPr>
          <a:xfrm>
            <a:off x="825500" y="4181580"/>
            <a:ext cx="0" cy="1031240"/>
          </a:xfrm>
          <a:prstGeom prst="line">
            <a:avLst/>
          </a:prstGeom>
          <a:noFill/>
          <a:ln w="25400">
            <a:solidFill>
              <a:srgbClr val="6B4A8C"/>
            </a:solidFill>
            <a:prstDash val="solid"/>
          </a:ln>
        </p:spPr>
      </p:sp>
      <p:sp>
        <p:nvSpPr>
          <p:cNvPr id="25" name="Text 23"/>
          <p:cNvSpPr/>
          <p:nvPr/>
        </p:nvSpPr>
        <p:spPr>
          <a:xfrm>
            <a:off x="1041400" y="4333980"/>
            <a:ext cx="1043863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6B4A8C"/>
                </a:solidFill>
                <a:latin typeface="IBM Plex Sans" pitchFamily="34" charset="0"/>
                <a:ea typeface="IBM Plex Sans" pitchFamily="34" charset="-122"/>
                <a:cs typeface="IBM Plex Sans" pitchFamily="34" charset="-120"/>
              </a:rPr>
              <a:t>Self-assessment is heard, not counted</a:t>
            </a:r>
            <a:endParaRPr lang="en-US" sz="1400" dirty="0"/>
          </a:p>
        </p:txBody>
      </p:sp>
      <p:sp>
        <p:nvSpPr>
          <p:cNvPr id="26" name="Text 24"/>
          <p:cNvSpPr/>
          <p:nvPr/>
        </p:nvSpPr>
        <p:spPr>
          <a:xfrm>
            <a:off x="1041400" y="4598138"/>
            <a:ext cx="91567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232A"/>
                </a:solidFill>
                <a:latin typeface="IBM Plex Sans" pitchFamily="34" charset="0"/>
                <a:ea typeface="IBM Plex Sans" pitchFamily="34" charset="-122"/>
                <a:cs typeface="IBM Plex Sans" pitchFamily="34" charset="-120"/>
              </a:rPr>
              <a:t>People rate themselves against these same written criteria. Those ratings sit beside the official level with the difference marked, and are excluded from every calculation until a manager ratifies one.</a:t>
            </a:r>
            <a:endParaRPr lang="en-US" sz="1300" dirty="0"/>
          </a:p>
        </p:txBody>
      </p:sp>
      <p:sp>
        <p:nvSpPr>
          <p:cNvPr id="27" name="Text 25"/>
          <p:cNvSpPr/>
          <p:nvPr/>
        </p:nvSpPr>
        <p:spPr>
          <a:xfrm>
            <a:off x="812800" y="5289550"/>
            <a:ext cx="941832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The assessor checks against a standard that already exists, so their judgement is bounded by a document they did not write that day.</a:t>
            </a:r>
            <a:endParaRPr lang="en-US" sz="1500" dirty="0"/>
          </a:p>
        </p:txBody>
      </p:sp>
      <p:sp>
        <p:nvSpPr>
          <p:cNvPr id="28" name="Text 26"/>
          <p:cNvSpPr/>
          <p:nvPr/>
        </p:nvSpPr>
        <p:spPr>
          <a:xfrm>
            <a:off x="812800" y="6238242"/>
            <a:ext cx="10687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Methodology</a:t>
            </a:r>
            <a:endParaRPr lang="en-US" sz="1200" dirty="0"/>
          </a:p>
        </p:txBody>
      </p:sp>
      <p:sp>
        <p:nvSpPr>
          <p:cNvPr id="29" name="Text 27"/>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2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F2F0EA"/>
                </a:solidFill>
                <a:latin typeface="Source Serif 4" pitchFamily="18" charset="0"/>
                <a:ea typeface="Source Serif 4" pitchFamily="18" charset="-122"/>
                <a:cs typeface="Source Serif 4" pitchFamily="18" charset="-120"/>
              </a:rPr>
              <a:t>The standards we track</a:t>
            </a:r>
            <a:endParaRPr lang="en-US" sz="3400" dirty="0"/>
          </a:p>
        </p:txBody>
      </p:sp>
      <p:sp>
        <p:nvSpPr>
          <p:cNvPr id="3" name="Text 1"/>
          <p:cNvSpPr/>
          <p:nvPr/>
        </p:nvSpPr>
        <p:spPr>
          <a:xfrm>
            <a:off x="812800" y="1671110"/>
            <a:ext cx="981075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A7BAC0"/>
                </a:solidFill>
                <a:latin typeface="IBM Plex Sans" pitchFamily="34" charset="0"/>
                <a:ea typeface="IBM Plex Sans" pitchFamily="34" charset="-122"/>
                <a:cs typeface="IBM Plex Sans" pitchFamily="34" charset="-120"/>
              </a:rPr>
              <a:t>Every one of the 278 skills carries a mapping to the NICE Framework, and most carry several more. These are twelve of the frameworks our skills map to, with the number of skills citing each.</a:t>
            </a:r>
            <a:endParaRPr lang="en-US" sz="1500" dirty="0"/>
          </a:p>
        </p:txBody>
      </p:sp>
      <p:sp>
        <p:nvSpPr>
          <p:cNvPr id="4" name="Shape 2"/>
          <p:cNvSpPr/>
          <p:nvPr/>
        </p:nvSpPr>
        <p:spPr>
          <a:xfrm>
            <a:off x="812800" y="2598316"/>
            <a:ext cx="1655233" cy="769620"/>
          </a:xfrm>
          <a:prstGeom prst="roundRect">
            <a:avLst>
              <a:gd name="adj" fmla="val 8251"/>
            </a:avLst>
          </a:prstGeom>
          <a:solidFill>
            <a:srgbClr val="1E2E36"/>
          </a:solidFill>
          <a:ln/>
        </p:spPr>
      </p:sp>
      <p:sp>
        <p:nvSpPr>
          <p:cNvPr id="5" name="Text 3"/>
          <p:cNvSpPr/>
          <p:nvPr/>
        </p:nvSpPr>
        <p:spPr>
          <a:xfrm>
            <a:off x="939800" y="2725316"/>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278</a:t>
            </a:r>
            <a:endParaRPr lang="en-US" sz="2200" dirty="0"/>
          </a:p>
        </p:txBody>
      </p:sp>
      <p:sp>
        <p:nvSpPr>
          <p:cNvPr id="6" name="Text 4"/>
          <p:cNvSpPr/>
          <p:nvPr/>
        </p:nvSpPr>
        <p:spPr>
          <a:xfrm>
            <a:off x="939800" y="3042816"/>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NICE Framework</a:t>
            </a:r>
            <a:endParaRPr lang="en-US" sz="1200" dirty="0"/>
          </a:p>
        </p:txBody>
      </p:sp>
      <p:sp>
        <p:nvSpPr>
          <p:cNvPr id="7" name="Shape 5"/>
          <p:cNvSpPr/>
          <p:nvPr/>
        </p:nvSpPr>
        <p:spPr>
          <a:xfrm>
            <a:off x="2595033" y="2598316"/>
            <a:ext cx="1655233" cy="769620"/>
          </a:xfrm>
          <a:prstGeom prst="roundRect">
            <a:avLst>
              <a:gd name="adj" fmla="val 8251"/>
            </a:avLst>
          </a:prstGeom>
          <a:solidFill>
            <a:srgbClr val="1E2E36"/>
          </a:solidFill>
          <a:ln/>
        </p:spPr>
      </p:sp>
      <p:sp>
        <p:nvSpPr>
          <p:cNvPr id="8" name="Text 6"/>
          <p:cNvSpPr/>
          <p:nvPr/>
        </p:nvSpPr>
        <p:spPr>
          <a:xfrm>
            <a:off x="2722033" y="2725316"/>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117</a:t>
            </a:r>
            <a:endParaRPr lang="en-US" sz="2200" dirty="0"/>
          </a:p>
        </p:txBody>
      </p:sp>
      <p:sp>
        <p:nvSpPr>
          <p:cNvPr id="9" name="Text 7"/>
          <p:cNvSpPr/>
          <p:nvPr/>
        </p:nvSpPr>
        <p:spPr>
          <a:xfrm>
            <a:off x="2722033" y="3042816"/>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MITRE ATT&amp;CK</a:t>
            </a:r>
            <a:endParaRPr lang="en-US" sz="1200" dirty="0"/>
          </a:p>
        </p:txBody>
      </p:sp>
      <p:sp>
        <p:nvSpPr>
          <p:cNvPr id="10" name="Shape 8"/>
          <p:cNvSpPr/>
          <p:nvPr/>
        </p:nvSpPr>
        <p:spPr>
          <a:xfrm>
            <a:off x="4377267" y="2598316"/>
            <a:ext cx="1655233" cy="769620"/>
          </a:xfrm>
          <a:prstGeom prst="roundRect">
            <a:avLst>
              <a:gd name="adj" fmla="val 8251"/>
            </a:avLst>
          </a:prstGeom>
          <a:solidFill>
            <a:srgbClr val="1E2E36"/>
          </a:solidFill>
          <a:ln/>
        </p:spPr>
      </p:sp>
      <p:sp>
        <p:nvSpPr>
          <p:cNvPr id="11" name="Text 9"/>
          <p:cNvSpPr/>
          <p:nvPr/>
        </p:nvSpPr>
        <p:spPr>
          <a:xfrm>
            <a:off x="4504267" y="2725316"/>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44</a:t>
            </a:r>
            <a:endParaRPr lang="en-US" sz="2200" dirty="0"/>
          </a:p>
        </p:txBody>
      </p:sp>
      <p:sp>
        <p:nvSpPr>
          <p:cNvPr id="12" name="Text 10"/>
          <p:cNvSpPr/>
          <p:nvPr/>
        </p:nvSpPr>
        <p:spPr>
          <a:xfrm>
            <a:off x="4504267" y="3042816"/>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SFIA</a:t>
            </a:r>
            <a:endParaRPr lang="en-US" sz="1200" dirty="0"/>
          </a:p>
        </p:txBody>
      </p:sp>
      <p:sp>
        <p:nvSpPr>
          <p:cNvPr id="13" name="Shape 11"/>
          <p:cNvSpPr/>
          <p:nvPr/>
        </p:nvSpPr>
        <p:spPr>
          <a:xfrm>
            <a:off x="6159500" y="2598316"/>
            <a:ext cx="1655233" cy="769620"/>
          </a:xfrm>
          <a:prstGeom prst="roundRect">
            <a:avLst>
              <a:gd name="adj" fmla="val 8251"/>
            </a:avLst>
          </a:prstGeom>
          <a:solidFill>
            <a:srgbClr val="1E2E36"/>
          </a:solidFill>
          <a:ln/>
        </p:spPr>
      </p:sp>
      <p:sp>
        <p:nvSpPr>
          <p:cNvPr id="14" name="Text 12"/>
          <p:cNvSpPr/>
          <p:nvPr/>
        </p:nvSpPr>
        <p:spPr>
          <a:xfrm>
            <a:off x="6286500" y="2725316"/>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41</a:t>
            </a:r>
            <a:endParaRPr lang="en-US" sz="2200" dirty="0"/>
          </a:p>
        </p:txBody>
      </p:sp>
      <p:sp>
        <p:nvSpPr>
          <p:cNvPr id="15" name="Text 13"/>
          <p:cNvSpPr/>
          <p:nvPr/>
        </p:nvSpPr>
        <p:spPr>
          <a:xfrm>
            <a:off x="6286500" y="3042816"/>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CWE</a:t>
            </a:r>
            <a:endParaRPr lang="en-US" sz="1200" dirty="0"/>
          </a:p>
        </p:txBody>
      </p:sp>
      <p:sp>
        <p:nvSpPr>
          <p:cNvPr id="16" name="Shape 14"/>
          <p:cNvSpPr/>
          <p:nvPr/>
        </p:nvSpPr>
        <p:spPr>
          <a:xfrm>
            <a:off x="7941733" y="2598316"/>
            <a:ext cx="1655233" cy="769620"/>
          </a:xfrm>
          <a:prstGeom prst="roundRect">
            <a:avLst>
              <a:gd name="adj" fmla="val 8251"/>
            </a:avLst>
          </a:prstGeom>
          <a:solidFill>
            <a:srgbClr val="1E2E36"/>
          </a:solidFill>
          <a:ln/>
        </p:spPr>
      </p:sp>
      <p:sp>
        <p:nvSpPr>
          <p:cNvPr id="17" name="Text 15"/>
          <p:cNvSpPr/>
          <p:nvPr/>
        </p:nvSpPr>
        <p:spPr>
          <a:xfrm>
            <a:off x="8068733" y="2725316"/>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36</a:t>
            </a:r>
            <a:endParaRPr lang="en-US" sz="2200" dirty="0"/>
          </a:p>
        </p:txBody>
      </p:sp>
      <p:sp>
        <p:nvSpPr>
          <p:cNvPr id="18" name="Text 16"/>
          <p:cNvSpPr/>
          <p:nvPr/>
        </p:nvSpPr>
        <p:spPr>
          <a:xfrm>
            <a:off x="8068733" y="3042816"/>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Common Criteria</a:t>
            </a:r>
            <a:endParaRPr lang="en-US" sz="1200" dirty="0"/>
          </a:p>
        </p:txBody>
      </p:sp>
      <p:sp>
        <p:nvSpPr>
          <p:cNvPr id="19" name="Shape 17"/>
          <p:cNvSpPr/>
          <p:nvPr/>
        </p:nvSpPr>
        <p:spPr>
          <a:xfrm>
            <a:off x="9723967" y="2598316"/>
            <a:ext cx="1655233" cy="769620"/>
          </a:xfrm>
          <a:prstGeom prst="roundRect">
            <a:avLst>
              <a:gd name="adj" fmla="val 8251"/>
            </a:avLst>
          </a:prstGeom>
          <a:solidFill>
            <a:srgbClr val="1E2E36"/>
          </a:solidFill>
          <a:ln/>
        </p:spPr>
      </p:sp>
      <p:sp>
        <p:nvSpPr>
          <p:cNvPr id="20" name="Text 18"/>
          <p:cNvSpPr/>
          <p:nvPr/>
        </p:nvSpPr>
        <p:spPr>
          <a:xfrm>
            <a:off x="9850967" y="2725316"/>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28</a:t>
            </a:r>
            <a:endParaRPr lang="en-US" sz="2200" dirty="0"/>
          </a:p>
        </p:txBody>
      </p:sp>
      <p:sp>
        <p:nvSpPr>
          <p:cNvPr id="21" name="Text 19"/>
          <p:cNvSpPr/>
          <p:nvPr/>
        </p:nvSpPr>
        <p:spPr>
          <a:xfrm>
            <a:off x="9850967" y="3042816"/>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GIAC</a:t>
            </a:r>
            <a:endParaRPr lang="en-US" sz="1200" dirty="0"/>
          </a:p>
        </p:txBody>
      </p:sp>
      <p:sp>
        <p:nvSpPr>
          <p:cNvPr id="22" name="Shape 20"/>
          <p:cNvSpPr/>
          <p:nvPr/>
        </p:nvSpPr>
        <p:spPr>
          <a:xfrm>
            <a:off x="812800" y="3494937"/>
            <a:ext cx="1655233" cy="769620"/>
          </a:xfrm>
          <a:prstGeom prst="roundRect">
            <a:avLst>
              <a:gd name="adj" fmla="val 8251"/>
            </a:avLst>
          </a:prstGeom>
          <a:solidFill>
            <a:srgbClr val="1E2E36"/>
          </a:solidFill>
          <a:ln/>
        </p:spPr>
      </p:sp>
      <p:sp>
        <p:nvSpPr>
          <p:cNvPr id="23" name="Text 21"/>
          <p:cNvSpPr/>
          <p:nvPr/>
        </p:nvSpPr>
        <p:spPr>
          <a:xfrm>
            <a:off x="939800" y="3621937"/>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24</a:t>
            </a:r>
            <a:endParaRPr lang="en-US" sz="2200" dirty="0"/>
          </a:p>
        </p:txBody>
      </p:sp>
      <p:sp>
        <p:nvSpPr>
          <p:cNvPr id="24" name="Text 22"/>
          <p:cNvSpPr/>
          <p:nvPr/>
        </p:nvSpPr>
        <p:spPr>
          <a:xfrm>
            <a:off x="939800" y="3939437"/>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CREST</a:t>
            </a:r>
            <a:endParaRPr lang="en-US" sz="1200" dirty="0"/>
          </a:p>
        </p:txBody>
      </p:sp>
      <p:sp>
        <p:nvSpPr>
          <p:cNvPr id="25" name="Shape 23"/>
          <p:cNvSpPr/>
          <p:nvPr/>
        </p:nvSpPr>
        <p:spPr>
          <a:xfrm>
            <a:off x="2595033" y="3494937"/>
            <a:ext cx="1655233" cy="769620"/>
          </a:xfrm>
          <a:prstGeom prst="roundRect">
            <a:avLst>
              <a:gd name="adj" fmla="val 8251"/>
            </a:avLst>
          </a:prstGeom>
          <a:solidFill>
            <a:srgbClr val="1E2E36"/>
          </a:solidFill>
          <a:ln/>
        </p:spPr>
      </p:sp>
      <p:sp>
        <p:nvSpPr>
          <p:cNvPr id="26" name="Text 24"/>
          <p:cNvSpPr/>
          <p:nvPr/>
        </p:nvSpPr>
        <p:spPr>
          <a:xfrm>
            <a:off x="2722033" y="3621937"/>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25</a:t>
            </a:r>
            <a:endParaRPr lang="en-US" sz="2200" dirty="0"/>
          </a:p>
        </p:txBody>
      </p:sp>
      <p:sp>
        <p:nvSpPr>
          <p:cNvPr id="27" name="Text 25"/>
          <p:cNvSpPr/>
          <p:nvPr/>
        </p:nvSpPr>
        <p:spPr>
          <a:xfrm>
            <a:off x="2722033" y="3939437"/>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CIS Benchmarks</a:t>
            </a:r>
            <a:endParaRPr lang="en-US" sz="1200" dirty="0"/>
          </a:p>
        </p:txBody>
      </p:sp>
      <p:sp>
        <p:nvSpPr>
          <p:cNvPr id="28" name="Shape 26"/>
          <p:cNvSpPr/>
          <p:nvPr/>
        </p:nvSpPr>
        <p:spPr>
          <a:xfrm>
            <a:off x="4377267" y="3494937"/>
            <a:ext cx="1655233" cy="769620"/>
          </a:xfrm>
          <a:prstGeom prst="roundRect">
            <a:avLst>
              <a:gd name="adj" fmla="val 8251"/>
            </a:avLst>
          </a:prstGeom>
          <a:solidFill>
            <a:srgbClr val="1E2E36"/>
          </a:solidFill>
          <a:ln/>
        </p:spPr>
      </p:sp>
      <p:sp>
        <p:nvSpPr>
          <p:cNvPr id="29" name="Text 27"/>
          <p:cNvSpPr/>
          <p:nvPr/>
        </p:nvSpPr>
        <p:spPr>
          <a:xfrm>
            <a:off x="4504267" y="3621937"/>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23</a:t>
            </a:r>
            <a:endParaRPr lang="en-US" sz="2200" dirty="0"/>
          </a:p>
        </p:txBody>
      </p:sp>
      <p:sp>
        <p:nvSpPr>
          <p:cNvPr id="30" name="Text 28"/>
          <p:cNvSpPr/>
          <p:nvPr/>
        </p:nvSpPr>
        <p:spPr>
          <a:xfrm>
            <a:off x="4504267" y="3939437"/>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OWASP</a:t>
            </a:r>
            <a:endParaRPr lang="en-US" sz="1200" dirty="0"/>
          </a:p>
        </p:txBody>
      </p:sp>
      <p:sp>
        <p:nvSpPr>
          <p:cNvPr id="31" name="Shape 29"/>
          <p:cNvSpPr/>
          <p:nvPr/>
        </p:nvSpPr>
        <p:spPr>
          <a:xfrm>
            <a:off x="6159500" y="3494937"/>
            <a:ext cx="1655233" cy="769620"/>
          </a:xfrm>
          <a:prstGeom prst="roundRect">
            <a:avLst>
              <a:gd name="adj" fmla="val 8251"/>
            </a:avLst>
          </a:prstGeom>
          <a:solidFill>
            <a:srgbClr val="1E2E36"/>
          </a:solidFill>
          <a:ln/>
        </p:spPr>
      </p:sp>
      <p:sp>
        <p:nvSpPr>
          <p:cNvPr id="32" name="Text 30"/>
          <p:cNvSpPr/>
          <p:nvPr/>
        </p:nvSpPr>
        <p:spPr>
          <a:xfrm>
            <a:off x="6286500" y="3621937"/>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21</a:t>
            </a:r>
            <a:endParaRPr lang="en-US" sz="2200" dirty="0"/>
          </a:p>
        </p:txBody>
      </p:sp>
      <p:sp>
        <p:nvSpPr>
          <p:cNvPr id="33" name="Text 31"/>
          <p:cNvSpPr/>
          <p:nvPr/>
        </p:nvSpPr>
        <p:spPr>
          <a:xfrm>
            <a:off x="6286500" y="3939437"/>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CSA CCM</a:t>
            </a:r>
            <a:endParaRPr lang="en-US" sz="1200" dirty="0"/>
          </a:p>
        </p:txBody>
      </p:sp>
      <p:sp>
        <p:nvSpPr>
          <p:cNvPr id="34" name="Shape 32"/>
          <p:cNvSpPr/>
          <p:nvPr/>
        </p:nvSpPr>
        <p:spPr>
          <a:xfrm>
            <a:off x="7941733" y="3494937"/>
            <a:ext cx="1655233" cy="769620"/>
          </a:xfrm>
          <a:prstGeom prst="roundRect">
            <a:avLst>
              <a:gd name="adj" fmla="val 8251"/>
            </a:avLst>
          </a:prstGeom>
          <a:solidFill>
            <a:srgbClr val="1E2E36"/>
          </a:solidFill>
          <a:ln/>
        </p:spPr>
      </p:sp>
      <p:sp>
        <p:nvSpPr>
          <p:cNvPr id="35" name="Text 33"/>
          <p:cNvSpPr/>
          <p:nvPr/>
        </p:nvSpPr>
        <p:spPr>
          <a:xfrm>
            <a:off x="8068733" y="3621937"/>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16</a:t>
            </a:r>
            <a:endParaRPr lang="en-US" sz="2200" dirty="0"/>
          </a:p>
        </p:txBody>
      </p:sp>
      <p:sp>
        <p:nvSpPr>
          <p:cNvPr id="36" name="Text 34"/>
          <p:cNvSpPr/>
          <p:nvPr/>
        </p:nvSpPr>
        <p:spPr>
          <a:xfrm>
            <a:off x="8068733" y="3939437"/>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JIL attack potential</a:t>
            </a:r>
            <a:endParaRPr lang="en-US" sz="1200" dirty="0"/>
          </a:p>
        </p:txBody>
      </p:sp>
      <p:sp>
        <p:nvSpPr>
          <p:cNvPr id="37" name="Shape 35"/>
          <p:cNvSpPr/>
          <p:nvPr/>
        </p:nvSpPr>
        <p:spPr>
          <a:xfrm>
            <a:off x="9723967" y="3494937"/>
            <a:ext cx="1655233" cy="769620"/>
          </a:xfrm>
          <a:prstGeom prst="roundRect">
            <a:avLst>
              <a:gd name="adj" fmla="val 8251"/>
            </a:avLst>
          </a:prstGeom>
          <a:solidFill>
            <a:srgbClr val="1E2E36"/>
          </a:solidFill>
          <a:ln/>
        </p:spPr>
      </p:sp>
      <p:sp>
        <p:nvSpPr>
          <p:cNvPr id="38" name="Text 36"/>
          <p:cNvSpPr/>
          <p:nvPr/>
        </p:nvSpPr>
        <p:spPr>
          <a:xfrm>
            <a:off x="9850967" y="3621937"/>
            <a:ext cx="1452033" cy="304800"/>
          </a:xfrm>
          <a:prstGeom prst="rect">
            <a:avLst/>
          </a:prstGeom>
          <a:noFill/>
          <a:ln/>
        </p:spPr>
        <p:txBody>
          <a:bodyPr wrap="square" lIns="0" tIns="0" rIns="0" bIns="0" rtlCol="0" anchor="t">
            <a:normAutofit/>
          </a:bodyPr>
          <a:lstStyle/>
          <a:p>
            <a:pPr algn="l" indent="0" marL="0">
              <a:lnSpc>
                <a:spcPts val="2200"/>
              </a:lnSpc>
              <a:buNone/>
            </a:pPr>
            <a:r>
              <a:rPr lang="en-US" sz="2200" dirty="0">
                <a:solidFill>
                  <a:srgbClr val="B9A0DA"/>
                </a:solidFill>
                <a:latin typeface="Source Serif 4" pitchFamily="18" charset="0"/>
                <a:ea typeface="Source Serif 4" pitchFamily="18" charset="-122"/>
                <a:cs typeface="Source Serif 4" pitchFamily="18" charset="-120"/>
              </a:rPr>
              <a:t>15</a:t>
            </a:r>
            <a:endParaRPr lang="en-US" sz="2200" dirty="0"/>
          </a:p>
        </p:txBody>
      </p:sp>
      <p:sp>
        <p:nvSpPr>
          <p:cNvPr id="39" name="Text 37"/>
          <p:cNvSpPr/>
          <p:nvPr/>
        </p:nvSpPr>
        <p:spPr>
          <a:xfrm>
            <a:off x="9850967" y="3939437"/>
            <a:ext cx="145203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2F0EA"/>
                </a:solidFill>
                <a:latin typeface="IBM Plex Sans" pitchFamily="34" charset="0"/>
                <a:ea typeface="IBM Plex Sans" pitchFamily="34" charset="-122"/>
                <a:cs typeface="IBM Plex Sans" pitchFamily="34" charset="-120"/>
              </a:rPr>
              <a:t>FIPS 140-3</a:t>
            </a:r>
            <a:endParaRPr lang="en-US" sz="1200" dirty="0"/>
          </a:p>
        </p:txBody>
      </p:sp>
      <p:sp>
        <p:nvSpPr>
          <p:cNvPr id="40" name="Shape 38"/>
          <p:cNvSpPr/>
          <p:nvPr/>
        </p:nvSpPr>
        <p:spPr>
          <a:xfrm>
            <a:off x="812800" y="4648833"/>
            <a:ext cx="10566400" cy="0"/>
          </a:xfrm>
          <a:prstGeom prst="line">
            <a:avLst/>
          </a:prstGeom>
          <a:noFill/>
          <a:ln w="19050">
            <a:solidFill>
              <a:srgbClr val="B9A0DA"/>
            </a:solidFill>
            <a:prstDash val="solid"/>
          </a:ln>
        </p:spPr>
      </p:sp>
      <p:sp>
        <p:nvSpPr>
          <p:cNvPr id="41" name="Text 39"/>
          <p:cNvSpPr/>
          <p:nvPr/>
        </p:nvSpPr>
        <p:spPr>
          <a:xfrm>
            <a:off x="812800" y="4810758"/>
            <a:ext cx="10072370" cy="105664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2F0EA"/>
                </a:solidFill>
                <a:latin typeface="IBM Plex Sans" pitchFamily="34" charset="0"/>
                <a:ea typeface="IBM Plex Sans" pitchFamily="34" charset="-122"/>
                <a:cs typeface="IBM Plex Sans" pitchFamily="34" charset="-120"/>
              </a:rPr>
              <a:t>140 standards cited in all</a:t>
            </a:r>
            <a:r>
              <a:rPr lang="en-US" sz="1400" dirty="0">
                <a:solidFill>
                  <a:srgbClr val="F2F0EA"/>
                </a:solidFill>
                <a:latin typeface="IBM Plex Sans" pitchFamily="34" charset="0"/>
                <a:ea typeface="IBM Plex Sans" pitchFamily="34" charset="-122"/>
                <a:cs typeface="IBM Plex Sans" pitchFamily="34" charset="-120"/>
              </a:rPr>
              <a:t>, across ten groups: Common Criteria and FIPS 140-3, the NIST SP 800 series and the post-quantum FIPS 203 to 205, IEC 62443, ISO/SAE 21434 and UNECE R155, ETSI EN 303 645, and the OWASP Top 10s for ML, LLM and agentic systems. The citation counts are generated from the records, and the generator fails if any standard is cited by nothing, so an unused standard cannot sit in the list unnoticed.</a:t>
            </a:r>
            <a:endParaRPr lang="en-US" sz="1400" dirty="0"/>
          </a:p>
        </p:txBody>
      </p:sp>
      <p:sp>
        <p:nvSpPr>
          <p:cNvPr id="42" name="Text 40"/>
          <p:cNvSpPr/>
          <p:nvPr/>
        </p:nvSpPr>
        <p:spPr>
          <a:xfrm>
            <a:off x="812800" y="6238242"/>
            <a:ext cx="10687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Methodology</a:t>
            </a:r>
            <a:endParaRPr lang="en-US" sz="1200" dirty="0"/>
          </a:p>
        </p:txBody>
      </p:sp>
      <p:sp>
        <p:nvSpPr>
          <p:cNvPr id="43" name="Text 4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92717"/>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A profile sets direction. It does not describe a person</a:t>
            </a:r>
            <a:endParaRPr lang="en-US" sz="3400" dirty="0"/>
          </a:p>
        </p:txBody>
      </p:sp>
      <p:sp>
        <p:nvSpPr>
          <p:cNvPr id="3" name="Shape 1"/>
          <p:cNvSpPr/>
          <p:nvPr/>
        </p:nvSpPr>
        <p:spPr>
          <a:xfrm>
            <a:off x="822325" y="1784245"/>
            <a:ext cx="0" cy="1061085"/>
          </a:xfrm>
          <a:prstGeom prst="line">
            <a:avLst/>
          </a:prstGeom>
          <a:noFill/>
          <a:ln w="19050">
            <a:solidFill>
              <a:srgbClr val="6B4A8C"/>
            </a:solidFill>
            <a:prstDash val="solid"/>
          </a:ln>
        </p:spPr>
      </p:sp>
      <p:sp>
        <p:nvSpPr>
          <p:cNvPr id="4" name="Text 2"/>
          <p:cNvSpPr/>
          <p:nvPr/>
        </p:nvSpPr>
        <p:spPr>
          <a:xfrm>
            <a:off x="984250" y="1809645"/>
            <a:ext cx="508196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2A"/>
                </a:solidFill>
                <a:latin typeface="IBM Plex Sans" pitchFamily="34" charset="0"/>
                <a:ea typeface="IBM Plex Sans" pitchFamily="34" charset="-122"/>
                <a:cs typeface="IBM Plex Sans" pitchFamily="34" charset="-120"/>
              </a:rPr>
              <a:t>What a profile is</a:t>
            </a:r>
            <a:endParaRPr lang="en-US" sz="1500" dirty="0"/>
          </a:p>
        </p:txBody>
      </p:sp>
      <p:sp>
        <p:nvSpPr>
          <p:cNvPr id="5" name="Text 3"/>
          <p:cNvSpPr/>
          <p:nvPr/>
        </p:nvSpPr>
        <p:spPr>
          <a:xfrm>
            <a:off x="984250" y="2101745"/>
            <a:ext cx="5081969"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5646B"/>
                </a:solidFill>
                <a:latin typeface="IBM Plex Sans" pitchFamily="34" charset="0"/>
                <a:ea typeface="IBM Plex Sans" pitchFamily="34" charset="-122"/>
                <a:cs typeface="IBM Plex Sans" pitchFamily="34" charset="-120"/>
              </a:rPr>
              <a:t>A ladder for one domain, with five tiers and the thresholds for each. Eleven exist. It answers one question: inside this domain, what comes next?</a:t>
            </a:r>
            <a:endParaRPr lang="en-US" sz="1300" dirty="0"/>
          </a:p>
        </p:txBody>
      </p:sp>
      <p:sp>
        <p:nvSpPr>
          <p:cNvPr id="6" name="Shape 4"/>
          <p:cNvSpPr/>
          <p:nvPr/>
        </p:nvSpPr>
        <p:spPr>
          <a:xfrm>
            <a:off x="6283325" y="1784245"/>
            <a:ext cx="0" cy="1061085"/>
          </a:xfrm>
          <a:prstGeom prst="line">
            <a:avLst/>
          </a:prstGeom>
          <a:noFill/>
          <a:ln w="19050">
            <a:solidFill>
              <a:srgbClr val="6B4A8C"/>
            </a:solidFill>
            <a:prstDash val="solid"/>
          </a:ln>
        </p:spPr>
      </p:sp>
      <p:sp>
        <p:nvSpPr>
          <p:cNvPr id="7" name="Text 5"/>
          <p:cNvSpPr/>
          <p:nvPr/>
        </p:nvSpPr>
        <p:spPr>
          <a:xfrm>
            <a:off x="6445250" y="1809645"/>
            <a:ext cx="508196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32A"/>
                </a:solidFill>
                <a:latin typeface="IBM Plex Sans" pitchFamily="34" charset="0"/>
                <a:ea typeface="IBM Plex Sans" pitchFamily="34" charset="-122"/>
                <a:cs typeface="IBM Plex Sans" pitchFamily="34" charset="-120"/>
              </a:rPr>
              <a:t>Why one is never enough</a:t>
            </a:r>
            <a:endParaRPr lang="en-US" sz="1500" dirty="0"/>
          </a:p>
        </p:txBody>
      </p:sp>
      <p:sp>
        <p:nvSpPr>
          <p:cNvPr id="8" name="Text 6"/>
          <p:cNvSpPr/>
          <p:nvPr/>
        </p:nvSpPr>
        <p:spPr>
          <a:xfrm>
            <a:off x="6445250" y="2101745"/>
            <a:ext cx="5081969"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5646B"/>
                </a:solidFill>
                <a:latin typeface="IBM Plex Sans" pitchFamily="34" charset="0"/>
                <a:ea typeface="IBM Plex Sans" pitchFamily="34" charset="-122"/>
                <a:cs typeface="IBM Plex Sans" pitchFamily="34" charset="-120"/>
              </a:rPr>
              <a:t>People accumulate skills across domains. Reading a single profile alone makes somebody look narrower than they are, and hides the cross-domain depth real engagements need.</a:t>
            </a:r>
            <a:endParaRPr lang="en-US" sz="1300" dirty="0"/>
          </a:p>
        </p:txBody>
      </p:sp>
      <p:sp>
        <p:nvSpPr>
          <p:cNvPr id="9" name="Text 7"/>
          <p:cNvSpPr/>
          <p:nvPr/>
        </p:nvSpPr>
        <p:spPr>
          <a:xfrm>
            <a:off x="812800" y="2849457"/>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5646B"/>
                </a:solidFill>
                <a:latin typeface="IBM Plex Sans" pitchFamily="34" charset="0"/>
                <a:ea typeface="IBM Plex Sans" pitchFamily="34" charset="-122"/>
                <a:cs typeface="IBM Plex Sans" pitchFamily="34" charset="-120"/>
              </a:rPr>
              <a:t>One person, five domains</a:t>
            </a:r>
            <a:endParaRPr lang="en-US" sz="1200" dirty="0"/>
          </a:p>
        </p:txBody>
      </p:sp>
      <p:sp>
        <p:nvSpPr>
          <p:cNvPr id="10" name="Text 8"/>
          <p:cNvSpPr/>
          <p:nvPr/>
        </p:nvSpPr>
        <p:spPr>
          <a:xfrm>
            <a:off x="2743200" y="2849457"/>
            <a:ext cx="17322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Junior</a:t>
            </a:r>
            <a:endParaRPr lang="en-US" sz="1200" dirty="0"/>
          </a:p>
        </p:txBody>
      </p:sp>
      <p:sp>
        <p:nvSpPr>
          <p:cNvPr id="11" name="Text 9"/>
          <p:cNvSpPr/>
          <p:nvPr/>
        </p:nvSpPr>
        <p:spPr>
          <a:xfrm>
            <a:off x="4475480" y="2849457"/>
            <a:ext cx="17322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Practitioner</a:t>
            </a:r>
            <a:endParaRPr lang="en-US" sz="1200" dirty="0"/>
          </a:p>
        </p:txBody>
      </p:sp>
      <p:sp>
        <p:nvSpPr>
          <p:cNvPr id="12" name="Text 10"/>
          <p:cNvSpPr/>
          <p:nvPr/>
        </p:nvSpPr>
        <p:spPr>
          <a:xfrm>
            <a:off x="6207760" y="2849457"/>
            <a:ext cx="17322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Senior</a:t>
            </a:r>
            <a:endParaRPr lang="en-US" sz="1200" dirty="0"/>
          </a:p>
        </p:txBody>
      </p:sp>
      <p:sp>
        <p:nvSpPr>
          <p:cNvPr id="13" name="Text 11"/>
          <p:cNvSpPr/>
          <p:nvPr/>
        </p:nvSpPr>
        <p:spPr>
          <a:xfrm>
            <a:off x="7940040" y="2849457"/>
            <a:ext cx="17322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Lead</a:t>
            </a:r>
            <a:endParaRPr lang="en-US" sz="1200" dirty="0"/>
          </a:p>
        </p:txBody>
      </p:sp>
      <p:sp>
        <p:nvSpPr>
          <p:cNvPr id="14" name="Text 12"/>
          <p:cNvSpPr/>
          <p:nvPr/>
        </p:nvSpPr>
        <p:spPr>
          <a:xfrm>
            <a:off x="9672320" y="2849457"/>
            <a:ext cx="17322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Principal</a:t>
            </a:r>
            <a:endParaRPr lang="en-US" sz="1200" dirty="0"/>
          </a:p>
        </p:txBody>
      </p:sp>
      <p:sp>
        <p:nvSpPr>
          <p:cNvPr id="15" name="Text 13"/>
          <p:cNvSpPr/>
          <p:nvPr/>
        </p:nvSpPr>
        <p:spPr>
          <a:xfrm>
            <a:off x="812800" y="3240615"/>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2A"/>
                </a:solidFill>
                <a:latin typeface="IBM Plex Sans" pitchFamily="34" charset="0"/>
                <a:ea typeface="IBM Plex Sans" pitchFamily="34" charset="-122"/>
                <a:cs typeface="IBM Plex Sans" pitchFamily="34" charset="-120"/>
              </a:rPr>
              <a:t>Hardware Security</a:t>
            </a:r>
            <a:endParaRPr lang="en-US" sz="1300" dirty="0"/>
          </a:p>
        </p:txBody>
      </p:sp>
      <p:sp>
        <p:nvSpPr>
          <p:cNvPr id="16" name="Shape 14"/>
          <p:cNvSpPr/>
          <p:nvPr/>
        </p:nvSpPr>
        <p:spPr>
          <a:xfrm>
            <a:off x="2768600" y="3164415"/>
            <a:ext cx="1681480" cy="383540"/>
          </a:xfrm>
          <a:prstGeom prst="roundRect">
            <a:avLst>
              <a:gd name="adj" fmla="val 9934"/>
            </a:avLst>
          </a:prstGeom>
          <a:solidFill>
            <a:srgbClr val="E0D4F0"/>
          </a:solidFill>
          <a:ln/>
        </p:spPr>
      </p:sp>
      <p:sp>
        <p:nvSpPr>
          <p:cNvPr id="17" name="Shape 15"/>
          <p:cNvSpPr/>
          <p:nvPr/>
        </p:nvSpPr>
        <p:spPr>
          <a:xfrm>
            <a:off x="4500880" y="3164415"/>
            <a:ext cx="1681480" cy="383540"/>
          </a:xfrm>
          <a:prstGeom prst="roundRect">
            <a:avLst>
              <a:gd name="adj" fmla="val 9934"/>
            </a:avLst>
          </a:prstGeom>
          <a:solidFill>
            <a:srgbClr val="E0D4F0"/>
          </a:solidFill>
          <a:ln/>
        </p:spPr>
      </p:sp>
      <p:sp>
        <p:nvSpPr>
          <p:cNvPr id="18" name="Text 16"/>
          <p:cNvSpPr/>
          <p:nvPr/>
        </p:nvSpPr>
        <p:spPr>
          <a:xfrm>
            <a:off x="6233160" y="3164415"/>
            <a:ext cx="1681480" cy="383540"/>
          </a:xfrm>
          <a:prstGeom prst="roundRect">
            <a:avLst>
              <a:gd name="adj" fmla="val 9934"/>
            </a:avLst>
          </a:prstGeom>
          <a:solidFill>
            <a:srgbClr val="6B4A8C"/>
          </a:solidFill>
          <a:ln/>
        </p:spPr>
        <p:txBody>
          <a:bodyPr wrap="square" lIns="39641" tIns="65041" rIns="39641" bIns="57421" rtlCol="0" anchor="t">
            <a:normAutofit/>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Senior</a:t>
            </a:r>
            <a:endParaRPr lang="en-US" sz="1200" dirty="0"/>
          </a:p>
        </p:txBody>
      </p:sp>
      <p:sp>
        <p:nvSpPr>
          <p:cNvPr id="19" name="Shape 17"/>
          <p:cNvSpPr/>
          <p:nvPr/>
        </p:nvSpPr>
        <p:spPr>
          <a:xfrm>
            <a:off x="7965440" y="3164415"/>
            <a:ext cx="1681480" cy="383540"/>
          </a:xfrm>
          <a:prstGeom prst="roundRect">
            <a:avLst>
              <a:gd name="adj" fmla="val 9934"/>
            </a:avLst>
          </a:prstGeom>
          <a:solidFill>
            <a:srgbClr val="EAE7DE"/>
          </a:solidFill>
          <a:ln/>
        </p:spPr>
      </p:sp>
      <p:sp>
        <p:nvSpPr>
          <p:cNvPr id="20" name="Shape 18"/>
          <p:cNvSpPr/>
          <p:nvPr/>
        </p:nvSpPr>
        <p:spPr>
          <a:xfrm>
            <a:off x="9697720" y="3164415"/>
            <a:ext cx="1681480" cy="383540"/>
          </a:xfrm>
          <a:prstGeom prst="roundRect">
            <a:avLst>
              <a:gd name="adj" fmla="val 9934"/>
            </a:avLst>
          </a:prstGeom>
          <a:solidFill>
            <a:srgbClr val="EAE7DE"/>
          </a:solidFill>
          <a:ln/>
        </p:spPr>
      </p:sp>
      <p:sp>
        <p:nvSpPr>
          <p:cNvPr id="21" name="Text 19"/>
          <p:cNvSpPr/>
          <p:nvPr/>
        </p:nvSpPr>
        <p:spPr>
          <a:xfrm>
            <a:off x="812800" y="3674957"/>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2A"/>
                </a:solidFill>
                <a:latin typeface="IBM Plex Sans" pitchFamily="34" charset="0"/>
                <a:ea typeface="IBM Plex Sans" pitchFamily="34" charset="-122"/>
                <a:cs typeface="IBM Plex Sans" pitchFamily="34" charset="-120"/>
              </a:rPr>
              <a:t>Cryptography</a:t>
            </a:r>
            <a:endParaRPr lang="en-US" sz="1300" dirty="0"/>
          </a:p>
        </p:txBody>
      </p:sp>
      <p:sp>
        <p:nvSpPr>
          <p:cNvPr id="22" name="Shape 20"/>
          <p:cNvSpPr/>
          <p:nvPr/>
        </p:nvSpPr>
        <p:spPr>
          <a:xfrm>
            <a:off x="2768600" y="3598757"/>
            <a:ext cx="1681480" cy="383540"/>
          </a:xfrm>
          <a:prstGeom prst="roundRect">
            <a:avLst>
              <a:gd name="adj" fmla="val 9934"/>
            </a:avLst>
          </a:prstGeom>
          <a:solidFill>
            <a:srgbClr val="E0D4F0"/>
          </a:solidFill>
          <a:ln/>
        </p:spPr>
      </p:sp>
      <p:sp>
        <p:nvSpPr>
          <p:cNvPr id="23" name="Text 21"/>
          <p:cNvSpPr/>
          <p:nvPr/>
        </p:nvSpPr>
        <p:spPr>
          <a:xfrm>
            <a:off x="4500880" y="3598757"/>
            <a:ext cx="1681480" cy="383540"/>
          </a:xfrm>
          <a:prstGeom prst="roundRect">
            <a:avLst>
              <a:gd name="adj" fmla="val 9934"/>
            </a:avLst>
          </a:prstGeom>
          <a:solidFill>
            <a:srgbClr val="6B4A8C"/>
          </a:solidFill>
          <a:ln/>
        </p:spPr>
        <p:txBody>
          <a:bodyPr wrap="square" lIns="39641" tIns="65041" rIns="39641" bIns="57421" rtlCol="0" anchor="t">
            <a:normAutofit/>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Practitioner</a:t>
            </a:r>
            <a:endParaRPr lang="en-US" sz="1200" dirty="0"/>
          </a:p>
        </p:txBody>
      </p:sp>
      <p:sp>
        <p:nvSpPr>
          <p:cNvPr id="24" name="Shape 22"/>
          <p:cNvSpPr/>
          <p:nvPr/>
        </p:nvSpPr>
        <p:spPr>
          <a:xfrm>
            <a:off x="6233160" y="3598757"/>
            <a:ext cx="1681480" cy="383540"/>
          </a:xfrm>
          <a:prstGeom prst="roundRect">
            <a:avLst>
              <a:gd name="adj" fmla="val 9934"/>
            </a:avLst>
          </a:prstGeom>
          <a:solidFill>
            <a:srgbClr val="EAE7DE"/>
          </a:solidFill>
          <a:ln/>
        </p:spPr>
      </p:sp>
      <p:sp>
        <p:nvSpPr>
          <p:cNvPr id="25" name="Shape 23"/>
          <p:cNvSpPr/>
          <p:nvPr/>
        </p:nvSpPr>
        <p:spPr>
          <a:xfrm>
            <a:off x="7965440" y="3598757"/>
            <a:ext cx="1681480" cy="383540"/>
          </a:xfrm>
          <a:prstGeom prst="roundRect">
            <a:avLst>
              <a:gd name="adj" fmla="val 9934"/>
            </a:avLst>
          </a:prstGeom>
          <a:solidFill>
            <a:srgbClr val="EAE7DE"/>
          </a:solidFill>
          <a:ln/>
        </p:spPr>
      </p:sp>
      <p:sp>
        <p:nvSpPr>
          <p:cNvPr id="26" name="Shape 24"/>
          <p:cNvSpPr/>
          <p:nvPr/>
        </p:nvSpPr>
        <p:spPr>
          <a:xfrm>
            <a:off x="9697720" y="3598757"/>
            <a:ext cx="1681480" cy="383540"/>
          </a:xfrm>
          <a:prstGeom prst="roundRect">
            <a:avLst>
              <a:gd name="adj" fmla="val 9934"/>
            </a:avLst>
          </a:prstGeom>
          <a:solidFill>
            <a:srgbClr val="EAE7DE"/>
          </a:solidFill>
          <a:ln/>
        </p:spPr>
      </p:sp>
      <p:sp>
        <p:nvSpPr>
          <p:cNvPr id="27" name="Text 25"/>
          <p:cNvSpPr/>
          <p:nvPr/>
        </p:nvSpPr>
        <p:spPr>
          <a:xfrm>
            <a:off x="812800" y="4109300"/>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2A"/>
                </a:solidFill>
                <a:latin typeface="IBM Plex Sans" pitchFamily="34" charset="0"/>
                <a:ea typeface="IBM Plex Sans" pitchFamily="34" charset="-122"/>
                <a:cs typeface="IBM Plex Sans" pitchFamily="34" charset="-120"/>
              </a:rPr>
              <a:t>Software Security</a:t>
            </a:r>
            <a:endParaRPr lang="en-US" sz="1300" dirty="0"/>
          </a:p>
        </p:txBody>
      </p:sp>
      <p:sp>
        <p:nvSpPr>
          <p:cNvPr id="28" name="Shape 26"/>
          <p:cNvSpPr/>
          <p:nvPr/>
        </p:nvSpPr>
        <p:spPr>
          <a:xfrm>
            <a:off x="2768600" y="4033100"/>
            <a:ext cx="1681480" cy="383540"/>
          </a:xfrm>
          <a:prstGeom prst="roundRect">
            <a:avLst>
              <a:gd name="adj" fmla="val 9934"/>
            </a:avLst>
          </a:prstGeom>
          <a:solidFill>
            <a:srgbClr val="E0D4F0"/>
          </a:solidFill>
          <a:ln/>
        </p:spPr>
      </p:sp>
      <p:sp>
        <p:nvSpPr>
          <p:cNvPr id="29" name="Text 27"/>
          <p:cNvSpPr/>
          <p:nvPr/>
        </p:nvSpPr>
        <p:spPr>
          <a:xfrm>
            <a:off x="4500880" y="4033100"/>
            <a:ext cx="1681480" cy="383540"/>
          </a:xfrm>
          <a:prstGeom prst="roundRect">
            <a:avLst>
              <a:gd name="adj" fmla="val 9934"/>
            </a:avLst>
          </a:prstGeom>
          <a:solidFill>
            <a:srgbClr val="6B4A8C"/>
          </a:solidFill>
          <a:ln/>
        </p:spPr>
        <p:txBody>
          <a:bodyPr wrap="square" lIns="39641" tIns="65041" rIns="39641" bIns="57421" rtlCol="0" anchor="t">
            <a:normAutofit/>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Practitioner</a:t>
            </a:r>
            <a:endParaRPr lang="en-US" sz="1200" dirty="0"/>
          </a:p>
        </p:txBody>
      </p:sp>
      <p:sp>
        <p:nvSpPr>
          <p:cNvPr id="30" name="Shape 28"/>
          <p:cNvSpPr/>
          <p:nvPr/>
        </p:nvSpPr>
        <p:spPr>
          <a:xfrm>
            <a:off x="6233160" y="4033100"/>
            <a:ext cx="1681480" cy="383540"/>
          </a:xfrm>
          <a:prstGeom prst="roundRect">
            <a:avLst>
              <a:gd name="adj" fmla="val 9934"/>
            </a:avLst>
          </a:prstGeom>
          <a:solidFill>
            <a:srgbClr val="EAE7DE"/>
          </a:solidFill>
          <a:ln/>
        </p:spPr>
      </p:sp>
      <p:sp>
        <p:nvSpPr>
          <p:cNvPr id="31" name="Shape 29"/>
          <p:cNvSpPr/>
          <p:nvPr/>
        </p:nvSpPr>
        <p:spPr>
          <a:xfrm>
            <a:off x="7965440" y="4033100"/>
            <a:ext cx="1681480" cy="383540"/>
          </a:xfrm>
          <a:prstGeom prst="roundRect">
            <a:avLst>
              <a:gd name="adj" fmla="val 9934"/>
            </a:avLst>
          </a:prstGeom>
          <a:solidFill>
            <a:srgbClr val="EAE7DE"/>
          </a:solidFill>
          <a:ln/>
        </p:spPr>
      </p:sp>
      <p:sp>
        <p:nvSpPr>
          <p:cNvPr id="32" name="Shape 30"/>
          <p:cNvSpPr/>
          <p:nvPr/>
        </p:nvSpPr>
        <p:spPr>
          <a:xfrm>
            <a:off x="9697720" y="4033100"/>
            <a:ext cx="1681480" cy="383540"/>
          </a:xfrm>
          <a:prstGeom prst="roundRect">
            <a:avLst>
              <a:gd name="adj" fmla="val 9934"/>
            </a:avLst>
          </a:prstGeom>
          <a:solidFill>
            <a:srgbClr val="EAE7DE"/>
          </a:solidFill>
          <a:ln/>
        </p:spPr>
      </p:sp>
      <p:sp>
        <p:nvSpPr>
          <p:cNvPr id="33" name="Text 31"/>
          <p:cNvSpPr/>
          <p:nvPr/>
        </p:nvSpPr>
        <p:spPr>
          <a:xfrm>
            <a:off x="812800" y="4543636"/>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2A"/>
                </a:solidFill>
                <a:latin typeface="IBM Plex Sans" pitchFamily="34" charset="0"/>
                <a:ea typeface="IBM Plex Sans" pitchFamily="34" charset="-122"/>
                <a:cs typeface="IBM Plex Sans" pitchFamily="34" charset="-120"/>
              </a:rPr>
              <a:t>Network Security</a:t>
            </a:r>
            <a:endParaRPr lang="en-US" sz="1300" dirty="0"/>
          </a:p>
        </p:txBody>
      </p:sp>
      <p:sp>
        <p:nvSpPr>
          <p:cNvPr id="34" name="Text 32"/>
          <p:cNvSpPr/>
          <p:nvPr/>
        </p:nvSpPr>
        <p:spPr>
          <a:xfrm>
            <a:off x="2768600" y="4467436"/>
            <a:ext cx="1681480" cy="383540"/>
          </a:xfrm>
          <a:prstGeom prst="roundRect">
            <a:avLst>
              <a:gd name="adj" fmla="val 9934"/>
            </a:avLst>
          </a:prstGeom>
          <a:solidFill>
            <a:srgbClr val="6B4A8C"/>
          </a:solidFill>
          <a:ln/>
        </p:spPr>
        <p:txBody>
          <a:bodyPr wrap="square" lIns="39641" tIns="65041" rIns="39641" bIns="57421" rtlCol="0" anchor="t">
            <a:normAutofit/>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Junior</a:t>
            </a:r>
            <a:endParaRPr lang="en-US" sz="1200" dirty="0"/>
          </a:p>
        </p:txBody>
      </p:sp>
      <p:sp>
        <p:nvSpPr>
          <p:cNvPr id="35" name="Shape 33"/>
          <p:cNvSpPr/>
          <p:nvPr/>
        </p:nvSpPr>
        <p:spPr>
          <a:xfrm>
            <a:off x="4500880" y="4467436"/>
            <a:ext cx="1681480" cy="383540"/>
          </a:xfrm>
          <a:prstGeom prst="roundRect">
            <a:avLst>
              <a:gd name="adj" fmla="val 9934"/>
            </a:avLst>
          </a:prstGeom>
          <a:solidFill>
            <a:srgbClr val="EAE7DE"/>
          </a:solidFill>
          <a:ln/>
        </p:spPr>
      </p:sp>
      <p:sp>
        <p:nvSpPr>
          <p:cNvPr id="36" name="Shape 34"/>
          <p:cNvSpPr/>
          <p:nvPr/>
        </p:nvSpPr>
        <p:spPr>
          <a:xfrm>
            <a:off x="6233160" y="4467436"/>
            <a:ext cx="1681480" cy="383540"/>
          </a:xfrm>
          <a:prstGeom prst="roundRect">
            <a:avLst>
              <a:gd name="adj" fmla="val 9934"/>
            </a:avLst>
          </a:prstGeom>
          <a:solidFill>
            <a:srgbClr val="EAE7DE"/>
          </a:solidFill>
          <a:ln/>
        </p:spPr>
      </p:sp>
      <p:sp>
        <p:nvSpPr>
          <p:cNvPr id="37" name="Shape 35"/>
          <p:cNvSpPr/>
          <p:nvPr/>
        </p:nvSpPr>
        <p:spPr>
          <a:xfrm>
            <a:off x="7965440" y="4467436"/>
            <a:ext cx="1681480" cy="383540"/>
          </a:xfrm>
          <a:prstGeom prst="roundRect">
            <a:avLst>
              <a:gd name="adj" fmla="val 9934"/>
            </a:avLst>
          </a:prstGeom>
          <a:solidFill>
            <a:srgbClr val="EAE7DE"/>
          </a:solidFill>
          <a:ln/>
        </p:spPr>
      </p:sp>
      <p:sp>
        <p:nvSpPr>
          <p:cNvPr id="38" name="Shape 36"/>
          <p:cNvSpPr/>
          <p:nvPr/>
        </p:nvSpPr>
        <p:spPr>
          <a:xfrm>
            <a:off x="9697720" y="4467436"/>
            <a:ext cx="1681480" cy="383540"/>
          </a:xfrm>
          <a:prstGeom prst="roundRect">
            <a:avLst>
              <a:gd name="adj" fmla="val 9934"/>
            </a:avLst>
          </a:prstGeom>
          <a:solidFill>
            <a:srgbClr val="EAE7DE"/>
          </a:solidFill>
          <a:ln/>
        </p:spPr>
      </p:sp>
      <p:sp>
        <p:nvSpPr>
          <p:cNvPr id="39" name="Text 37"/>
          <p:cNvSpPr/>
          <p:nvPr/>
        </p:nvSpPr>
        <p:spPr>
          <a:xfrm>
            <a:off x="812800" y="4977978"/>
            <a:ext cx="19621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2A"/>
                </a:solidFill>
                <a:latin typeface="IBM Plex Sans" pitchFamily="34" charset="0"/>
                <a:ea typeface="IBM Plex Sans" pitchFamily="34" charset="-122"/>
                <a:cs typeface="IBM Plex Sans" pitchFamily="34" charset="-120"/>
              </a:rPr>
              <a:t>Digital Forensics</a:t>
            </a:r>
            <a:endParaRPr lang="en-US" sz="1300" dirty="0"/>
          </a:p>
        </p:txBody>
      </p:sp>
      <p:sp>
        <p:nvSpPr>
          <p:cNvPr id="40" name="Text 38"/>
          <p:cNvSpPr/>
          <p:nvPr/>
        </p:nvSpPr>
        <p:spPr>
          <a:xfrm>
            <a:off x="2768600" y="4901778"/>
            <a:ext cx="1681480" cy="383540"/>
          </a:xfrm>
          <a:prstGeom prst="roundRect">
            <a:avLst>
              <a:gd name="adj" fmla="val 9934"/>
            </a:avLst>
          </a:prstGeom>
          <a:solidFill>
            <a:srgbClr val="6B4A8C"/>
          </a:solidFill>
          <a:ln/>
        </p:spPr>
        <p:txBody>
          <a:bodyPr wrap="square" lIns="39641" tIns="65041" rIns="39641" bIns="57421" rtlCol="0" anchor="t">
            <a:normAutofit/>
          </a:bodyPr>
          <a:lstStyle/>
          <a:p>
            <a:pPr algn="ctr" indent="0" marL="0">
              <a:lnSpc>
                <a:spcPts val="1680"/>
              </a:lnSpc>
              <a:buNone/>
            </a:pPr>
            <a:r>
              <a:rPr lang="en-US" sz="1200" b="1" dirty="0">
                <a:solidFill>
                  <a:srgbClr val="F2F0EA"/>
                </a:solidFill>
                <a:latin typeface="IBM Plex Sans" pitchFamily="34" charset="0"/>
                <a:ea typeface="IBM Plex Sans" pitchFamily="34" charset="-122"/>
                <a:cs typeface="IBM Plex Sans" pitchFamily="34" charset="-120"/>
              </a:rPr>
              <a:t>Junior</a:t>
            </a:r>
            <a:endParaRPr lang="en-US" sz="1200" dirty="0"/>
          </a:p>
        </p:txBody>
      </p:sp>
      <p:sp>
        <p:nvSpPr>
          <p:cNvPr id="41" name="Shape 39"/>
          <p:cNvSpPr/>
          <p:nvPr/>
        </p:nvSpPr>
        <p:spPr>
          <a:xfrm>
            <a:off x="4500880" y="4901778"/>
            <a:ext cx="1681480" cy="383540"/>
          </a:xfrm>
          <a:prstGeom prst="roundRect">
            <a:avLst>
              <a:gd name="adj" fmla="val 9934"/>
            </a:avLst>
          </a:prstGeom>
          <a:solidFill>
            <a:srgbClr val="EAE7DE"/>
          </a:solidFill>
          <a:ln/>
        </p:spPr>
      </p:sp>
      <p:sp>
        <p:nvSpPr>
          <p:cNvPr id="42" name="Shape 40"/>
          <p:cNvSpPr/>
          <p:nvPr/>
        </p:nvSpPr>
        <p:spPr>
          <a:xfrm>
            <a:off x="6233160" y="4901778"/>
            <a:ext cx="1681480" cy="383540"/>
          </a:xfrm>
          <a:prstGeom prst="roundRect">
            <a:avLst>
              <a:gd name="adj" fmla="val 9934"/>
            </a:avLst>
          </a:prstGeom>
          <a:solidFill>
            <a:srgbClr val="EAE7DE"/>
          </a:solidFill>
          <a:ln/>
        </p:spPr>
      </p:sp>
      <p:sp>
        <p:nvSpPr>
          <p:cNvPr id="43" name="Shape 41"/>
          <p:cNvSpPr/>
          <p:nvPr/>
        </p:nvSpPr>
        <p:spPr>
          <a:xfrm>
            <a:off x="7965440" y="4901778"/>
            <a:ext cx="1681480" cy="383540"/>
          </a:xfrm>
          <a:prstGeom prst="roundRect">
            <a:avLst>
              <a:gd name="adj" fmla="val 9934"/>
            </a:avLst>
          </a:prstGeom>
          <a:solidFill>
            <a:srgbClr val="EAE7DE"/>
          </a:solidFill>
          <a:ln/>
        </p:spPr>
      </p:sp>
      <p:sp>
        <p:nvSpPr>
          <p:cNvPr id="44" name="Shape 42"/>
          <p:cNvSpPr/>
          <p:nvPr/>
        </p:nvSpPr>
        <p:spPr>
          <a:xfrm>
            <a:off x="9697720" y="4901778"/>
            <a:ext cx="1681480" cy="383540"/>
          </a:xfrm>
          <a:prstGeom prst="roundRect">
            <a:avLst>
              <a:gd name="adj" fmla="val 9934"/>
            </a:avLst>
          </a:prstGeom>
          <a:solidFill>
            <a:srgbClr val="EAE7DE"/>
          </a:solidFill>
          <a:ln/>
        </p:spPr>
      </p:sp>
      <p:sp>
        <p:nvSpPr>
          <p:cNvPr id="45" name="Text 43"/>
          <p:cNvSpPr/>
          <p:nvPr/>
        </p:nvSpPr>
        <p:spPr>
          <a:xfrm>
            <a:off x="812800" y="5289550"/>
            <a:ext cx="981075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The person above is a senior hardware evaluator. They are also a working cryptographer and a competent software reviewer, and the staffing reports read all five rows. Only development conversations narrow to one.</a:t>
            </a:r>
            <a:endParaRPr lang="en-US" sz="1500" dirty="0"/>
          </a:p>
        </p:txBody>
      </p:sp>
      <p:sp>
        <p:nvSpPr>
          <p:cNvPr id="46" name="Text 44"/>
          <p:cNvSpPr/>
          <p:nvPr/>
        </p:nvSpPr>
        <p:spPr>
          <a:xfrm>
            <a:off x="812800" y="6238242"/>
            <a:ext cx="10687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Methodology</a:t>
            </a:r>
            <a:endParaRPr lang="en-US" sz="1200" dirty="0"/>
          </a:p>
        </p:txBody>
      </p:sp>
      <p:sp>
        <p:nvSpPr>
          <p:cNvPr id="47" name="Text 4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32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F2F0EA"/>
                </a:solidFill>
                <a:latin typeface="Source Serif 4" pitchFamily="18" charset="0"/>
                <a:ea typeface="Source Serif 4" pitchFamily="18" charset="-122"/>
                <a:cs typeface="Source Serif 4" pitchFamily="18" charset="-120"/>
              </a:rPr>
              <a:t>A tier asks four questions</a:t>
            </a:r>
            <a:endParaRPr lang="en-US" sz="3400" dirty="0"/>
          </a:p>
        </p:txBody>
      </p:sp>
      <p:sp>
        <p:nvSpPr>
          <p:cNvPr id="3" name="Shape 1"/>
          <p:cNvSpPr/>
          <p:nvPr/>
        </p:nvSpPr>
        <p:spPr>
          <a:xfrm>
            <a:off x="812800" y="1928285"/>
            <a:ext cx="2489200" cy="1570355"/>
          </a:xfrm>
          <a:prstGeom prst="roundRect">
            <a:avLst>
              <a:gd name="adj" fmla="val 4044"/>
            </a:avLst>
          </a:prstGeom>
          <a:solidFill>
            <a:srgbClr val="1E2E36"/>
          </a:solidFill>
          <a:ln/>
        </p:spPr>
      </p:sp>
      <p:sp>
        <p:nvSpPr>
          <p:cNvPr id="4" name="Text 2"/>
          <p:cNvSpPr/>
          <p:nvPr/>
        </p:nvSpPr>
        <p:spPr>
          <a:xfrm>
            <a:off x="1041400" y="2156885"/>
            <a:ext cx="2092960" cy="318770"/>
          </a:xfrm>
          <a:prstGeom prst="rect">
            <a:avLst/>
          </a:prstGeom>
          <a:noFill/>
          <a:ln/>
        </p:spPr>
        <p:txBody>
          <a:bodyPr wrap="square" lIns="0" tIns="0" rIns="0" bIns="0" rtlCol="0" anchor="t">
            <a:normAutofit/>
          </a:bodyPr>
          <a:lstStyle/>
          <a:p>
            <a:pPr algn="l" indent="0" marL="0">
              <a:lnSpc>
                <a:spcPts val="2310"/>
              </a:lnSpc>
              <a:buNone/>
            </a:pPr>
            <a:r>
              <a:rPr lang="en-US" sz="2100" dirty="0">
                <a:solidFill>
                  <a:srgbClr val="B9A0DA"/>
                </a:solidFill>
                <a:latin typeface="Source Serif 4" pitchFamily="18" charset="0"/>
                <a:ea typeface="Source Serif 4" pitchFamily="18" charset="-122"/>
                <a:cs typeface="Source Serif 4" pitchFamily="18" charset="-120"/>
              </a:rPr>
              <a:t>Deep enough?</a:t>
            </a:r>
            <a:endParaRPr lang="en-US" sz="2100" dirty="0"/>
          </a:p>
        </p:txBody>
      </p:sp>
      <p:sp>
        <p:nvSpPr>
          <p:cNvPr id="5" name="Text 3"/>
          <p:cNvSpPr/>
          <p:nvPr/>
        </p:nvSpPr>
        <p:spPr>
          <a:xfrm>
            <a:off x="1041400" y="2551850"/>
            <a:ext cx="2092960"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7BAC0"/>
                </a:solidFill>
                <a:latin typeface="IBM Plex Sans" pitchFamily="34" charset="0"/>
                <a:ea typeface="IBM Plex Sans" pitchFamily="34" charset="-122"/>
                <a:cs typeface="IBM Plex Sans" pitchFamily="34" charset="-120"/>
              </a:rPr>
              <a:t>Enough skills in this domain, held at a high enough level.</a:t>
            </a:r>
            <a:endParaRPr lang="en-US" sz="1300" dirty="0"/>
          </a:p>
        </p:txBody>
      </p:sp>
      <p:sp>
        <p:nvSpPr>
          <p:cNvPr id="6" name="Shape 4"/>
          <p:cNvSpPr/>
          <p:nvPr/>
        </p:nvSpPr>
        <p:spPr>
          <a:xfrm>
            <a:off x="3505200" y="1928285"/>
            <a:ext cx="2489200" cy="1570355"/>
          </a:xfrm>
          <a:prstGeom prst="roundRect">
            <a:avLst>
              <a:gd name="adj" fmla="val 4044"/>
            </a:avLst>
          </a:prstGeom>
          <a:solidFill>
            <a:srgbClr val="1E2E36"/>
          </a:solidFill>
          <a:ln/>
        </p:spPr>
      </p:sp>
      <p:sp>
        <p:nvSpPr>
          <p:cNvPr id="7" name="Text 5"/>
          <p:cNvSpPr/>
          <p:nvPr/>
        </p:nvSpPr>
        <p:spPr>
          <a:xfrm>
            <a:off x="3733800" y="2156885"/>
            <a:ext cx="2092960" cy="318770"/>
          </a:xfrm>
          <a:prstGeom prst="rect">
            <a:avLst/>
          </a:prstGeom>
          <a:noFill/>
          <a:ln/>
        </p:spPr>
        <p:txBody>
          <a:bodyPr wrap="square" lIns="0" tIns="0" rIns="0" bIns="0" rtlCol="0" anchor="t">
            <a:normAutofit/>
          </a:bodyPr>
          <a:lstStyle/>
          <a:p>
            <a:pPr algn="l" indent="0" marL="0">
              <a:lnSpc>
                <a:spcPts val="2310"/>
              </a:lnSpc>
              <a:buNone/>
            </a:pPr>
            <a:r>
              <a:rPr lang="en-US" sz="2100" dirty="0">
                <a:solidFill>
                  <a:srgbClr val="B9A0DA"/>
                </a:solidFill>
                <a:latin typeface="Source Serif 4" pitchFamily="18" charset="0"/>
                <a:ea typeface="Source Serif 4" pitchFamily="18" charset="-122"/>
                <a:cs typeface="Source Serif 4" pitchFamily="18" charset="-120"/>
              </a:rPr>
              <a:t>Broad enough?</a:t>
            </a:r>
            <a:endParaRPr lang="en-US" sz="2100" dirty="0"/>
          </a:p>
        </p:txBody>
      </p:sp>
      <p:sp>
        <p:nvSpPr>
          <p:cNvPr id="8" name="Text 6"/>
          <p:cNvSpPr/>
          <p:nvPr/>
        </p:nvSpPr>
        <p:spPr>
          <a:xfrm>
            <a:off x="3733800" y="2551850"/>
            <a:ext cx="2092960"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7BAC0"/>
                </a:solidFill>
                <a:latin typeface="IBM Plex Sans" pitchFamily="34" charset="0"/>
                <a:ea typeface="IBM Plex Sans" pitchFamily="34" charset="-122"/>
                <a:cs typeface="IBM Plex Sans" pitchFamily="34" charset="-120"/>
              </a:rPr>
              <a:t>Spread across enough areas of the domain, not all in one corner.</a:t>
            </a:r>
            <a:endParaRPr lang="en-US" sz="1300" dirty="0"/>
          </a:p>
        </p:txBody>
      </p:sp>
      <p:sp>
        <p:nvSpPr>
          <p:cNvPr id="9" name="Shape 7"/>
          <p:cNvSpPr/>
          <p:nvPr/>
        </p:nvSpPr>
        <p:spPr>
          <a:xfrm>
            <a:off x="6197600" y="1928285"/>
            <a:ext cx="2489200" cy="1570355"/>
          </a:xfrm>
          <a:prstGeom prst="roundRect">
            <a:avLst>
              <a:gd name="adj" fmla="val 4044"/>
            </a:avLst>
          </a:prstGeom>
          <a:solidFill>
            <a:srgbClr val="1E2E36"/>
          </a:solidFill>
          <a:ln/>
        </p:spPr>
      </p:sp>
      <p:sp>
        <p:nvSpPr>
          <p:cNvPr id="10" name="Text 8"/>
          <p:cNvSpPr/>
          <p:nvPr/>
        </p:nvSpPr>
        <p:spPr>
          <a:xfrm>
            <a:off x="6426200" y="2156885"/>
            <a:ext cx="2092960" cy="318770"/>
          </a:xfrm>
          <a:prstGeom prst="rect">
            <a:avLst/>
          </a:prstGeom>
          <a:noFill/>
          <a:ln/>
        </p:spPr>
        <p:txBody>
          <a:bodyPr wrap="square" lIns="0" tIns="0" rIns="0" bIns="0" rtlCol="0" anchor="t">
            <a:normAutofit/>
          </a:bodyPr>
          <a:lstStyle/>
          <a:p>
            <a:pPr algn="l" indent="0" marL="0">
              <a:lnSpc>
                <a:spcPts val="2310"/>
              </a:lnSpc>
              <a:buNone/>
            </a:pPr>
            <a:r>
              <a:rPr lang="en-US" sz="2100" dirty="0">
                <a:solidFill>
                  <a:srgbClr val="B9A0DA"/>
                </a:solidFill>
                <a:latin typeface="Source Serif 4" pitchFamily="18" charset="0"/>
                <a:ea typeface="Source Serif 4" pitchFamily="18" charset="-122"/>
                <a:cs typeface="Source Serif 4" pitchFamily="18" charset="-120"/>
              </a:rPr>
              <a:t>Basics solid?</a:t>
            </a:r>
            <a:endParaRPr lang="en-US" sz="2100" dirty="0"/>
          </a:p>
        </p:txBody>
      </p:sp>
      <p:sp>
        <p:nvSpPr>
          <p:cNvPr id="11" name="Text 9"/>
          <p:cNvSpPr/>
          <p:nvPr/>
        </p:nvSpPr>
        <p:spPr>
          <a:xfrm>
            <a:off x="6426200" y="2551850"/>
            <a:ext cx="2092960"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7BAC0"/>
                </a:solidFill>
                <a:latin typeface="IBM Plex Sans" pitchFamily="34" charset="0"/>
                <a:ea typeface="IBM Plex Sans" pitchFamily="34" charset="-122"/>
                <a:cs typeface="IBM Plex Sans" pitchFamily="34" charset="-120"/>
              </a:rPr>
              <a:t>Report writing, evidence handling, ethics and the rest of the foundations.</a:t>
            </a:r>
            <a:endParaRPr lang="en-US" sz="1300" dirty="0"/>
          </a:p>
        </p:txBody>
      </p:sp>
      <p:sp>
        <p:nvSpPr>
          <p:cNvPr id="12" name="Shape 10"/>
          <p:cNvSpPr/>
          <p:nvPr/>
        </p:nvSpPr>
        <p:spPr>
          <a:xfrm>
            <a:off x="8890000" y="1928285"/>
            <a:ext cx="2489200" cy="1570355"/>
          </a:xfrm>
          <a:prstGeom prst="roundRect">
            <a:avLst>
              <a:gd name="adj" fmla="val 4044"/>
            </a:avLst>
          </a:prstGeom>
          <a:solidFill>
            <a:srgbClr val="1E2E36"/>
          </a:solidFill>
          <a:ln/>
        </p:spPr>
      </p:sp>
      <p:sp>
        <p:nvSpPr>
          <p:cNvPr id="13" name="Text 11"/>
          <p:cNvSpPr/>
          <p:nvPr/>
        </p:nvSpPr>
        <p:spPr>
          <a:xfrm>
            <a:off x="9118600" y="2156885"/>
            <a:ext cx="2092960" cy="318770"/>
          </a:xfrm>
          <a:prstGeom prst="rect">
            <a:avLst/>
          </a:prstGeom>
          <a:noFill/>
          <a:ln/>
        </p:spPr>
        <p:txBody>
          <a:bodyPr wrap="square" lIns="0" tIns="0" rIns="0" bIns="0" rtlCol="0" anchor="t">
            <a:normAutofit/>
          </a:bodyPr>
          <a:lstStyle/>
          <a:p>
            <a:pPr algn="l" indent="0" marL="0">
              <a:lnSpc>
                <a:spcPts val="2310"/>
              </a:lnSpc>
              <a:buNone/>
            </a:pPr>
            <a:r>
              <a:rPr lang="en-US" sz="2100" dirty="0">
                <a:solidFill>
                  <a:srgbClr val="B9A0DA"/>
                </a:solidFill>
                <a:latin typeface="Source Serif 4" pitchFamily="18" charset="0"/>
                <a:ea typeface="Source Serif 4" pitchFamily="18" charset="-122"/>
                <a:cs typeface="Source Serif 4" pitchFamily="18" charset="-120"/>
              </a:rPr>
              <a:t>Must-haves?</a:t>
            </a:r>
            <a:endParaRPr lang="en-US" sz="2100" dirty="0"/>
          </a:p>
        </p:txBody>
      </p:sp>
      <p:sp>
        <p:nvSpPr>
          <p:cNvPr id="14" name="Text 12"/>
          <p:cNvSpPr/>
          <p:nvPr/>
        </p:nvSpPr>
        <p:spPr>
          <a:xfrm>
            <a:off x="9118600" y="2551850"/>
            <a:ext cx="2092960"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7BAC0"/>
                </a:solidFill>
                <a:latin typeface="IBM Plex Sans" pitchFamily="34" charset="0"/>
                <a:ea typeface="IBM Plex Sans" pitchFamily="34" charset="-122"/>
                <a:cs typeface="IBM Plex Sans" pitchFamily="34" charset="-120"/>
              </a:rPr>
              <a:t>The few named skills that tier requires, with no substitutions.</a:t>
            </a:r>
            <a:endParaRPr lang="en-US" sz="1300" dirty="0"/>
          </a:p>
        </p:txBody>
      </p:sp>
      <p:sp>
        <p:nvSpPr>
          <p:cNvPr id="15" name="Shape 13"/>
          <p:cNvSpPr/>
          <p:nvPr/>
        </p:nvSpPr>
        <p:spPr>
          <a:xfrm>
            <a:off x="812800" y="4140095"/>
            <a:ext cx="10566400" cy="0"/>
          </a:xfrm>
          <a:prstGeom prst="line">
            <a:avLst/>
          </a:prstGeom>
          <a:noFill/>
          <a:ln w="19050">
            <a:solidFill>
              <a:srgbClr val="B9A0DA"/>
            </a:solidFill>
            <a:prstDash val="solid"/>
          </a:ln>
        </p:spPr>
      </p:sp>
      <p:sp>
        <p:nvSpPr>
          <p:cNvPr id="16" name="Text 14"/>
          <p:cNvSpPr/>
          <p:nvPr/>
        </p:nvSpPr>
        <p:spPr>
          <a:xfrm>
            <a:off x="812800" y="432742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2F0EA"/>
                </a:solidFill>
                <a:latin typeface="Source Serif 4" pitchFamily="18" charset="0"/>
                <a:ea typeface="Source Serif 4" pitchFamily="18" charset="-122"/>
                <a:cs typeface="Source Serif 4" pitchFamily="18" charset="-120"/>
              </a:rPr>
              <a:t>Four yes, and that is your tier. One no, and the report names which one.</a:t>
            </a:r>
            <a:endParaRPr lang="en-US" sz="2000" dirty="0"/>
          </a:p>
        </p:txBody>
      </p:sp>
      <p:sp>
        <p:nvSpPr>
          <p:cNvPr id="17" name="Text 15"/>
          <p:cNvSpPr/>
          <p:nvPr/>
        </p:nvSpPr>
        <p:spPr>
          <a:xfrm>
            <a:off x="812800" y="5289550"/>
            <a:ext cx="981075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A7BAC0"/>
                </a:solidFill>
                <a:latin typeface="IBM Plex Sans" pitchFamily="34" charset="0"/>
                <a:ea typeface="IBM Plex Sans" pitchFamily="34" charset="-122"/>
                <a:cs typeface="IBM Plex Sans" pitchFamily="34" charset="-120"/>
              </a:rPr>
              <a:t>Nothing is scored or weighted, so being exceptional at one thing cannot buy out a gap somewhere else. That matters when the gap is report writing, because the report is what the client actually receives.</a:t>
            </a:r>
            <a:endParaRPr lang="en-US" sz="1500" dirty="0"/>
          </a:p>
        </p:txBody>
      </p:sp>
      <p:sp>
        <p:nvSpPr>
          <p:cNvPr id="18" name="Text 16"/>
          <p:cNvSpPr/>
          <p:nvPr/>
        </p:nvSpPr>
        <p:spPr>
          <a:xfrm>
            <a:off x="812800" y="6238242"/>
            <a:ext cx="10687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Methodology</a:t>
            </a:r>
            <a:endParaRPr lang="en-US" sz="1200" dirty="0"/>
          </a:p>
        </p:txBody>
      </p:sp>
      <p:sp>
        <p:nvSpPr>
          <p:cNvPr id="19" name="Text 1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Five tiers, one direction</a:t>
            </a:r>
            <a:endParaRPr lang="en-US" sz="3400" dirty="0"/>
          </a:p>
        </p:txBody>
      </p:sp>
      <p:sp>
        <p:nvSpPr>
          <p:cNvPr id="3" name="Shape 1"/>
          <p:cNvSpPr/>
          <p:nvPr/>
        </p:nvSpPr>
        <p:spPr>
          <a:xfrm>
            <a:off x="815975" y="1307784"/>
            <a:ext cx="1715770" cy="2228850"/>
          </a:xfrm>
          <a:prstGeom prst="roundRect">
            <a:avLst>
              <a:gd name="adj" fmla="val 3516"/>
            </a:avLst>
          </a:prstGeom>
          <a:solidFill>
            <a:srgbClr val="FBFAF6"/>
          </a:solidFill>
          <a:ln w="6350">
            <a:solidFill>
              <a:srgbClr val="D3D0C6"/>
            </a:solidFill>
            <a:prstDash val="solid"/>
          </a:ln>
        </p:spPr>
      </p:sp>
      <p:sp>
        <p:nvSpPr>
          <p:cNvPr id="4" name="Text 2"/>
          <p:cNvSpPr/>
          <p:nvPr/>
        </p:nvSpPr>
        <p:spPr>
          <a:xfrm>
            <a:off x="946150" y="1476059"/>
            <a:ext cx="15062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Junior</a:t>
            </a:r>
            <a:endParaRPr lang="en-US" sz="1400" dirty="0"/>
          </a:p>
        </p:txBody>
      </p:sp>
      <p:sp>
        <p:nvSpPr>
          <p:cNvPr id="5" name="Text 3"/>
          <p:cNvSpPr/>
          <p:nvPr/>
        </p:nvSpPr>
        <p:spPr>
          <a:xfrm>
            <a:off x="946150" y="1801180"/>
            <a:ext cx="15062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Assists. Work is checked before it leaves the lab.</a:t>
            </a:r>
            <a:endParaRPr lang="en-US" sz="1200" dirty="0"/>
          </a:p>
        </p:txBody>
      </p:sp>
      <p:sp>
        <p:nvSpPr>
          <p:cNvPr id="6" name="Text 4"/>
          <p:cNvSpPr/>
          <p:nvPr/>
        </p:nvSpPr>
        <p:spPr>
          <a:xfrm>
            <a:off x="946150" y="2517459"/>
            <a:ext cx="150622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9 at level 1</a:t>
            </a:r>
            <a:endParaRPr lang="en-US" sz="1200" dirty="0"/>
          </a:p>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5 at level 2</a:t>
            </a:r>
            <a:endParaRPr lang="en-US" sz="1200" dirty="0"/>
          </a:p>
        </p:txBody>
      </p:sp>
      <p:pic>
        <p:nvPicPr>
          <p:cNvPr id="7" name="Image 0" descr="connector">    </p:cNvPr>
          <p:cNvPicPr>
            <a:picLocks noChangeAspect="1"/>
          </p:cNvPicPr>
          <p:nvPr/>
        </p:nvPicPr>
        <p:blipFill>
          <a:blip r:embed="rId1"/>
          <a:srcRect l="0" r="0" t="0" b="0"/>
          <a:stretch/>
        </p:blipFill>
        <p:spPr>
          <a:xfrm>
            <a:off x="2604770" y="2371409"/>
            <a:ext cx="342900" cy="101600"/>
          </a:xfrm>
          <a:prstGeom prst="rect">
            <a:avLst/>
          </a:prstGeom>
        </p:spPr>
      </p:pic>
      <p:sp>
        <p:nvSpPr>
          <p:cNvPr id="8" name="Shape 5"/>
          <p:cNvSpPr/>
          <p:nvPr/>
        </p:nvSpPr>
        <p:spPr>
          <a:xfrm>
            <a:off x="3020695" y="1307784"/>
            <a:ext cx="1715770" cy="2228850"/>
          </a:xfrm>
          <a:prstGeom prst="roundRect">
            <a:avLst>
              <a:gd name="adj" fmla="val 3516"/>
            </a:avLst>
          </a:prstGeom>
          <a:solidFill>
            <a:srgbClr val="FBFAF6"/>
          </a:solidFill>
          <a:ln w="6350">
            <a:solidFill>
              <a:srgbClr val="D3D0C6"/>
            </a:solidFill>
            <a:prstDash val="solid"/>
          </a:ln>
        </p:spPr>
      </p:sp>
      <p:sp>
        <p:nvSpPr>
          <p:cNvPr id="9" name="Text 6"/>
          <p:cNvSpPr/>
          <p:nvPr/>
        </p:nvSpPr>
        <p:spPr>
          <a:xfrm>
            <a:off x="3150870" y="1476059"/>
            <a:ext cx="15062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Practitioner</a:t>
            </a:r>
            <a:endParaRPr lang="en-US" sz="1400" dirty="0"/>
          </a:p>
        </p:txBody>
      </p:sp>
      <p:sp>
        <p:nvSpPr>
          <p:cNvPr id="10" name="Text 7"/>
          <p:cNvSpPr/>
          <p:nvPr/>
        </p:nvSpPr>
        <p:spPr>
          <a:xfrm>
            <a:off x="3150870" y="1801180"/>
            <a:ext cx="15062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Plans and signs off routine work alone.</a:t>
            </a:r>
            <a:endParaRPr lang="en-US" sz="1200" dirty="0"/>
          </a:p>
        </p:txBody>
      </p:sp>
      <p:sp>
        <p:nvSpPr>
          <p:cNvPr id="11" name="Text 8"/>
          <p:cNvSpPr/>
          <p:nvPr/>
        </p:nvSpPr>
        <p:spPr>
          <a:xfrm>
            <a:off x="3150870" y="2304095"/>
            <a:ext cx="150622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13 at level 2</a:t>
            </a:r>
            <a:endParaRPr lang="en-US" sz="1200" dirty="0"/>
          </a:p>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7 at level 3</a:t>
            </a:r>
            <a:endParaRPr lang="en-US" sz="1200" dirty="0"/>
          </a:p>
        </p:txBody>
      </p:sp>
      <p:pic>
        <p:nvPicPr>
          <p:cNvPr id="12" name="Image 1" descr="connector">    </p:cNvPr>
          <p:cNvPicPr>
            <a:picLocks noChangeAspect="1"/>
          </p:cNvPicPr>
          <p:nvPr/>
        </p:nvPicPr>
        <p:blipFill>
          <a:blip r:embed="rId2"/>
          <a:srcRect l="0" r="0" t="0" b="0"/>
          <a:stretch/>
        </p:blipFill>
        <p:spPr>
          <a:xfrm>
            <a:off x="4809490" y="2371409"/>
            <a:ext cx="342900" cy="101600"/>
          </a:xfrm>
          <a:prstGeom prst="rect">
            <a:avLst/>
          </a:prstGeom>
        </p:spPr>
      </p:pic>
      <p:sp>
        <p:nvSpPr>
          <p:cNvPr id="13" name="Shape 9"/>
          <p:cNvSpPr/>
          <p:nvPr/>
        </p:nvSpPr>
        <p:spPr>
          <a:xfrm>
            <a:off x="5225415" y="1307784"/>
            <a:ext cx="1715770" cy="2228850"/>
          </a:xfrm>
          <a:prstGeom prst="roundRect">
            <a:avLst>
              <a:gd name="adj" fmla="val 3516"/>
            </a:avLst>
          </a:prstGeom>
          <a:solidFill>
            <a:srgbClr val="FBFAF6"/>
          </a:solidFill>
          <a:ln w="6350">
            <a:solidFill>
              <a:srgbClr val="D3D0C6"/>
            </a:solidFill>
            <a:prstDash val="solid"/>
          </a:ln>
        </p:spPr>
      </p:sp>
      <p:sp>
        <p:nvSpPr>
          <p:cNvPr id="14" name="Text 10"/>
          <p:cNvSpPr/>
          <p:nvPr/>
        </p:nvSpPr>
        <p:spPr>
          <a:xfrm>
            <a:off x="5355590" y="1476059"/>
            <a:ext cx="15062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Senior</a:t>
            </a:r>
            <a:endParaRPr lang="en-US" sz="1400" dirty="0"/>
          </a:p>
        </p:txBody>
      </p:sp>
      <p:sp>
        <p:nvSpPr>
          <p:cNvPr id="15" name="Text 11"/>
          <p:cNvSpPr/>
          <p:nvPr/>
        </p:nvSpPr>
        <p:spPr>
          <a:xfrm>
            <a:off x="5355590" y="1801180"/>
            <a:ext cx="15062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Takes complex work and reviews other people's reports.</a:t>
            </a:r>
            <a:endParaRPr lang="en-US" sz="1200" dirty="0"/>
          </a:p>
        </p:txBody>
      </p:sp>
      <p:sp>
        <p:nvSpPr>
          <p:cNvPr id="16" name="Text 12"/>
          <p:cNvSpPr/>
          <p:nvPr/>
        </p:nvSpPr>
        <p:spPr>
          <a:xfrm>
            <a:off x="5355590" y="2517459"/>
            <a:ext cx="150622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16 at level 3</a:t>
            </a:r>
            <a:endParaRPr lang="en-US" sz="1200" dirty="0"/>
          </a:p>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7 at level 4</a:t>
            </a:r>
            <a:endParaRPr lang="en-US" sz="1200" dirty="0"/>
          </a:p>
        </p:txBody>
      </p:sp>
      <p:pic>
        <p:nvPicPr>
          <p:cNvPr id="17" name="Image 2" descr="connector">    </p:cNvPr>
          <p:cNvPicPr>
            <a:picLocks noChangeAspect="1"/>
          </p:cNvPicPr>
          <p:nvPr/>
        </p:nvPicPr>
        <p:blipFill>
          <a:blip r:embed="rId3"/>
          <a:srcRect l="0" r="0" t="0" b="0"/>
          <a:stretch/>
        </p:blipFill>
        <p:spPr>
          <a:xfrm>
            <a:off x="7014210" y="2371409"/>
            <a:ext cx="342900" cy="101600"/>
          </a:xfrm>
          <a:prstGeom prst="rect">
            <a:avLst/>
          </a:prstGeom>
        </p:spPr>
      </p:pic>
      <p:sp>
        <p:nvSpPr>
          <p:cNvPr id="18" name="Shape 13"/>
          <p:cNvSpPr/>
          <p:nvPr/>
        </p:nvSpPr>
        <p:spPr>
          <a:xfrm>
            <a:off x="7433310" y="1310959"/>
            <a:ext cx="1722120" cy="2222500"/>
          </a:xfrm>
          <a:prstGeom prst="roundRect">
            <a:avLst>
              <a:gd name="adj" fmla="val 3319"/>
            </a:avLst>
          </a:prstGeom>
          <a:solidFill>
            <a:srgbClr val="EEE8F4"/>
          </a:solidFill>
          <a:ln w="12700">
            <a:solidFill>
              <a:srgbClr val="6B4A8C"/>
            </a:solidFill>
            <a:prstDash val="solid"/>
          </a:ln>
        </p:spPr>
      </p:sp>
      <p:sp>
        <p:nvSpPr>
          <p:cNvPr id="19" name="Text 14"/>
          <p:cNvSpPr/>
          <p:nvPr/>
        </p:nvSpPr>
        <p:spPr>
          <a:xfrm>
            <a:off x="7566660" y="1482409"/>
            <a:ext cx="15062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Lead</a:t>
            </a:r>
            <a:endParaRPr lang="en-US" sz="1400" dirty="0"/>
          </a:p>
        </p:txBody>
      </p:sp>
      <p:sp>
        <p:nvSpPr>
          <p:cNvPr id="20" name="Text 15"/>
          <p:cNvSpPr/>
          <p:nvPr/>
        </p:nvSpPr>
        <p:spPr>
          <a:xfrm>
            <a:off x="7566660" y="1807530"/>
            <a:ext cx="1506220"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Owns the methodology and plans the technical approach across engagements.</a:t>
            </a:r>
            <a:endParaRPr lang="en-US" sz="1200" dirty="0"/>
          </a:p>
        </p:txBody>
      </p:sp>
      <p:sp>
        <p:nvSpPr>
          <p:cNvPr id="21" name="Text 16"/>
          <p:cNvSpPr/>
          <p:nvPr/>
        </p:nvSpPr>
        <p:spPr>
          <a:xfrm>
            <a:off x="7566660" y="2950530"/>
            <a:ext cx="150622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18 at level 3</a:t>
            </a:r>
            <a:endParaRPr lang="en-US" sz="1200" dirty="0"/>
          </a:p>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9 at level 4</a:t>
            </a:r>
            <a:endParaRPr lang="en-US" sz="1200" dirty="0"/>
          </a:p>
        </p:txBody>
      </p:sp>
      <p:pic>
        <p:nvPicPr>
          <p:cNvPr id="22" name="Image 3" descr="connector">    </p:cNvPr>
          <p:cNvPicPr>
            <a:picLocks noChangeAspect="1"/>
          </p:cNvPicPr>
          <p:nvPr/>
        </p:nvPicPr>
        <p:blipFill>
          <a:blip r:embed="rId4"/>
          <a:srcRect l="0" r="0" t="0" b="0"/>
          <a:stretch/>
        </p:blipFill>
        <p:spPr>
          <a:xfrm>
            <a:off x="9231630" y="2371409"/>
            <a:ext cx="342900" cy="101600"/>
          </a:xfrm>
          <a:prstGeom prst="rect">
            <a:avLst/>
          </a:prstGeom>
        </p:spPr>
      </p:pic>
      <p:sp>
        <p:nvSpPr>
          <p:cNvPr id="23" name="Shape 17"/>
          <p:cNvSpPr/>
          <p:nvPr/>
        </p:nvSpPr>
        <p:spPr>
          <a:xfrm>
            <a:off x="9650730" y="1310959"/>
            <a:ext cx="1722120" cy="2222500"/>
          </a:xfrm>
          <a:prstGeom prst="roundRect">
            <a:avLst>
              <a:gd name="adj" fmla="val 3319"/>
            </a:avLst>
          </a:prstGeom>
          <a:solidFill>
            <a:srgbClr val="EEE8F4"/>
          </a:solidFill>
          <a:ln w="12700">
            <a:solidFill>
              <a:srgbClr val="6B4A8C"/>
            </a:solidFill>
            <a:prstDash val="solid"/>
          </a:ln>
        </p:spPr>
      </p:sp>
      <p:sp>
        <p:nvSpPr>
          <p:cNvPr id="24" name="Text 18"/>
          <p:cNvSpPr/>
          <p:nvPr/>
        </p:nvSpPr>
        <p:spPr>
          <a:xfrm>
            <a:off x="9784080" y="1482409"/>
            <a:ext cx="15062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Principal</a:t>
            </a:r>
            <a:endParaRPr lang="en-US" sz="1400" dirty="0"/>
          </a:p>
        </p:txBody>
      </p:sp>
      <p:sp>
        <p:nvSpPr>
          <p:cNvPr id="25" name="Text 19"/>
          <p:cNvSpPr/>
          <p:nvPr/>
        </p:nvSpPr>
        <p:spPr>
          <a:xfrm>
            <a:off x="9784080" y="1807530"/>
            <a:ext cx="15062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Technical authority. Defines direction and publishes.</a:t>
            </a:r>
            <a:endParaRPr lang="en-US" sz="1200" dirty="0"/>
          </a:p>
        </p:txBody>
      </p:sp>
      <p:sp>
        <p:nvSpPr>
          <p:cNvPr id="26" name="Text 20"/>
          <p:cNvSpPr/>
          <p:nvPr/>
        </p:nvSpPr>
        <p:spPr>
          <a:xfrm>
            <a:off x="9784080" y="2523809"/>
            <a:ext cx="150622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18 at level 4</a:t>
            </a:r>
            <a:endParaRPr lang="en-US" sz="1200" dirty="0"/>
          </a:p>
          <a:p>
            <a:pPr algn="l" indent="0" marL="0">
              <a:lnSpc>
                <a:spcPts val="1620"/>
              </a:lnSpc>
              <a:buNone/>
            </a:pPr>
            <a:r>
              <a:rPr lang="en-US" sz="1200" b="1" dirty="0">
                <a:solidFill>
                  <a:srgbClr val="6B4A8C"/>
                </a:solidFill>
                <a:latin typeface="IBM Plex Sans" pitchFamily="34" charset="0"/>
                <a:ea typeface="IBM Plex Sans" pitchFamily="34" charset="-122"/>
                <a:cs typeface="IBM Plex Sans" pitchFamily="34" charset="-120"/>
              </a:rPr>
              <a:t>7 at level 5</a:t>
            </a:r>
            <a:endParaRPr lang="en-US" sz="1200" dirty="0"/>
          </a:p>
        </p:txBody>
      </p:sp>
      <p:sp>
        <p:nvSpPr>
          <p:cNvPr id="27" name="Shape 21"/>
          <p:cNvSpPr/>
          <p:nvPr/>
        </p:nvSpPr>
        <p:spPr>
          <a:xfrm>
            <a:off x="812800" y="3548063"/>
            <a:ext cx="10566400" cy="1457007"/>
          </a:xfrm>
          <a:prstGeom prst="rect">
            <a:avLst/>
          </a:prstGeom>
          <a:solidFill>
            <a:srgbClr val="FBFAF6"/>
          </a:solidFill>
          <a:ln/>
        </p:spPr>
      </p:sp>
      <p:sp>
        <p:nvSpPr>
          <p:cNvPr id="28" name="Shape 22"/>
          <p:cNvSpPr/>
          <p:nvPr/>
        </p:nvSpPr>
        <p:spPr>
          <a:xfrm>
            <a:off x="825500" y="3548063"/>
            <a:ext cx="0" cy="1457007"/>
          </a:xfrm>
          <a:prstGeom prst="line">
            <a:avLst/>
          </a:prstGeom>
          <a:noFill/>
          <a:ln w="25400">
            <a:solidFill>
              <a:srgbClr val="6B4A8C"/>
            </a:solidFill>
            <a:prstDash val="solid"/>
          </a:ln>
        </p:spPr>
      </p:sp>
      <p:sp>
        <p:nvSpPr>
          <p:cNvPr id="29" name="Text 23"/>
          <p:cNvSpPr/>
          <p:nvPr/>
        </p:nvSpPr>
        <p:spPr>
          <a:xfrm>
            <a:off x="1066800" y="3751263"/>
            <a:ext cx="1038631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6B4A8C"/>
                </a:solidFill>
                <a:latin typeface="IBM Plex Sans" pitchFamily="34" charset="0"/>
                <a:ea typeface="IBM Plex Sans" pitchFamily="34" charset="-122"/>
                <a:cs typeface="IBM Plex Sans" pitchFamily="34" charset="-120"/>
              </a:rPr>
              <a:t>Lead and Principal are both technical tiers</a:t>
            </a:r>
            <a:endParaRPr lang="en-US" sz="1500" dirty="0"/>
          </a:p>
        </p:txBody>
      </p:sp>
      <p:sp>
        <p:nvSpPr>
          <p:cNvPr id="30" name="Text 24"/>
          <p:cNvSpPr/>
          <p:nvPr/>
        </p:nvSpPr>
        <p:spPr>
          <a:xfrm>
            <a:off x="1066800" y="4056063"/>
            <a:ext cx="9418320" cy="771207"/>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16232A"/>
                </a:solidFill>
                <a:latin typeface="IBM Plex Sans" pitchFamily="34" charset="0"/>
                <a:ea typeface="IBM Plex Sans" pitchFamily="34" charset="-122"/>
                <a:cs typeface="IBM Plex Sans" pitchFamily="34" charset="-120"/>
              </a:rPr>
              <a:t>Each requires technical project management and client communication at level 3, because running an evaluation and briefing a client are part of the technical work. Principal extends Lead rather than branching from it: the same requirements, with more depth behind them.</a:t>
            </a:r>
            <a:endParaRPr lang="en-US" sz="1350" dirty="0"/>
          </a:p>
        </p:txBody>
      </p:sp>
      <p:sp>
        <p:nvSpPr>
          <p:cNvPr id="31" name="Text 25"/>
          <p:cNvSpPr/>
          <p:nvPr/>
        </p:nvSpPr>
        <p:spPr>
          <a:xfrm>
            <a:off x="812800" y="5013325"/>
            <a:ext cx="981075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The figures are hardware security. Counts scale with domain size, so a 14-skill domain asks for 7 where a 49-skill one asks for 23, but the shape never changes: Principal repeats Lead's count and Senior's count, each one level higher. Advancing is mostly the same skills deepening, not more skills.</a:t>
            </a:r>
            <a:endParaRPr lang="en-US" sz="1500" dirty="0"/>
          </a:p>
        </p:txBody>
      </p:sp>
      <p:sp>
        <p:nvSpPr>
          <p:cNvPr id="32" name="Text 26"/>
          <p:cNvSpPr/>
          <p:nvPr/>
        </p:nvSpPr>
        <p:spPr>
          <a:xfrm>
            <a:off x="812800" y="6238242"/>
            <a:ext cx="10687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Methodology</a:t>
            </a:r>
            <a:endParaRPr lang="en-US" sz="1200" dirty="0"/>
          </a:p>
        </p:txBody>
      </p:sp>
      <p:sp>
        <p:nvSpPr>
          <p:cNvPr id="33" name="Text 2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6E3D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A worked example</a:t>
            </a:r>
            <a:endParaRPr lang="en-US" sz="3400" dirty="0"/>
          </a:p>
        </p:txBody>
      </p:sp>
      <p:sp>
        <p:nvSpPr>
          <p:cNvPr id="3" name="Text 1"/>
          <p:cNvSpPr/>
          <p:nvPr/>
        </p:nvSpPr>
        <p:spPr>
          <a:xfrm>
            <a:off x="812800" y="1398060"/>
            <a:ext cx="91567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5646B"/>
                </a:solidFill>
                <a:latin typeface="IBM Plex Sans" pitchFamily="34" charset="0"/>
                <a:ea typeface="IBM Plex Sans" pitchFamily="34" charset="-122"/>
                <a:cs typeface="IBM Plex Sans" pitchFamily="34" charset="-120"/>
              </a:rPr>
              <a:t>An illustrative evaluator is considered for Senior Hardware Security Evaluator. They are strong, and they do not get it.</a:t>
            </a:r>
            <a:endParaRPr lang="en-US" sz="1500" dirty="0"/>
          </a:p>
        </p:txBody>
      </p:sp>
      <p:sp>
        <p:nvSpPr>
          <p:cNvPr id="4" name="Shape 2"/>
          <p:cNvSpPr/>
          <p:nvPr/>
        </p:nvSpPr>
        <p:spPr>
          <a:xfrm>
            <a:off x="812800" y="1964587"/>
            <a:ext cx="10566400" cy="0"/>
          </a:xfrm>
          <a:prstGeom prst="line">
            <a:avLst/>
          </a:prstGeom>
          <a:noFill/>
          <a:ln w="12700">
            <a:solidFill>
              <a:srgbClr val="141413">
                <a:alpha val="22000"/>
              </a:srgbClr>
            </a:solidFill>
            <a:prstDash val="solid"/>
          </a:ln>
        </p:spPr>
      </p:sp>
      <p:sp>
        <p:nvSpPr>
          <p:cNvPr id="5" name="Shape 3"/>
          <p:cNvSpPr/>
          <p:nvPr/>
        </p:nvSpPr>
        <p:spPr>
          <a:xfrm>
            <a:off x="819150" y="1958237"/>
            <a:ext cx="0" cy="3304540"/>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52500" y="2072537"/>
          <a:ext cx="10299700" cy="3088640"/>
        </p:xfrm>
        <a:graphic>
          <a:graphicData uri="http://schemas.openxmlformats.org/drawingml/2006/table">
            <a:tbl>
              <a:tblPr/>
              <a:tblGrid>
                <a:gridCol w="4737862"/>
                <a:gridCol w="1647952"/>
                <a:gridCol w="1647952"/>
                <a:gridCol w="2265934"/>
              </a:tblGrid>
              <a:tr h="386080">
                <a:tc>
                  <a:txBody>
                    <a:bodyPr/>
                    <a:lstStyle/>
                    <a:p>
                      <a:pPr indent="0" marL="0">
                        <a:lnSpc>
                          <a:spcPts val="1960"/>
                        </a:lnSpc>
                        <a:buNone/>
                      </a:pPr>
                      <a:r>
                        <a:rPr lang="en-US" sz="1400" b="1" dirty="0">
                          <a:solidFill>
                            <a:srgbClr val="F2F0EA"/>
                          </a:solidFill>
                          <a:latin typeface="IBM Plex Sans" pitchFamily="34" charset="0"/>
                          <a:ea typeface="IBM Plex Sans" pitchFamily="34" charset="-122"/>
                          <a:cs typeface="IBM Plex Sans" pitchFamily="34" charset="-120"/>
                        </a:rPr>
                        <a:t>Gate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162025"/>
                      </a:solidFill>
                      <a:prstDash val="solid"/>
                      <a:round/>
                      <a:headEnd type="none" w="med" len="med"/>
                      <a:tailEnd type="none" w="med" len="med"/>
                    </a:lnR>
                    <a:lnT w="0" cap="flat" cmpd="sng" algn="ctr">
                      <a:noFill/>
                    </a:lnT>
                    <a:lnB w="12700" cap="flat" cmpd="sng" algn="ctr">
                      <a:solidFill>
                        <a:srgbClr val="162025"/>
                      </a:solidFill>
                      <a:prstDash val="solid"/>
                      <a:round/>
                      <a:headEnd type="none" w="med" len="med"/>
                      <a:tailEnd type="none" w="med" len="med"/>
                    </a:lnB>
                    <a:solidFill>
                      <a:srgbClr val="16232A"/>
                    </a:solidFill>
                  </a:tcPr>
                </a:tc>
                <a:tc>
                  <a:txBody>
                    <a:bodyPr/>
                    <a:lstStyle/>
                    <a:p>
                      <a:pPr indent="0" marL="0">
                        <a:lnSpc>
                          <a:spcPts val="1960"/>
                        </a:lnSpc>
                        <a:buNone/>
                      </a:pPr>
                      <a:r>
                        <a:rPr lang="en-US" sz="1400" b="1" dirty="0">
                          <a:solidFill>
                            <a:srgbClr val="F2F0EA"/>
                          </a:solidFill>
                          <a:latin typeface="IBM Plex Sans" pitchFamily="34" charset="0"/>
                          <a:ea typeface="IBM Plex Sans" pitchFamily="34" charset="-122"/>
                          <a:cs typeface="IBM Plex Sans" pitchFamily="34" charset="-120"/>
                        </a:rPr>
                        <a:t>Required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2025"/>
                      </a:solidFill>
                      <a:prstDash val="solid"/>
                      <a:round/>
                      <a:headEnd type="none" w="med" len="med"/>
                      <a:tailEnd type="none" w="med" len="med"/>
                    </a:lnL>
                    <a:lnR w="12700" cap="flat" cmpd="sng" algn="ctr">
                      <a:solidFill>
                        <a:srgbClr val="162025"/>
                      </a:solidFill>
                      <a:prstDash val="solid"/>
                      <a:round/>
                      <a:headEnd type="none" w="med" len="med"/>
                      <a:tailEnd type="none" w="med" len="med"/>
                    </a:lnR>
                    <a:lnT w="0" cap="flat" cmpd="sng" algn="ctr">
                      <a:noFill/>
                    </a:lnT>
                    <a:lnB w="12700" cap="flat" cmpd="sng" algn="ctr">
                      <a:solidFill>
                        <a:srgbClr val="162025"/>
                      </a:solidFill>
                      <a:prstDash val="solid"/>
                      <a:round/>
                      <a:headEnd type="none" w="med" len="med"/>
                      <a:tailEnd type="none" w="med" len="med"/>
                    </a:lnB>
                    <a:solidFill>
                      <a:srgbClr val="16232A"/>
                    </a:solidFill>
                  </a:tcPr>
                </a:tc>
                <a:tc>
                  <a:txBody>
                    <a:bodyPr/>
                    <a:lstStyle/>
                    <a:p>
                      <a:pPr indent="0" marL="0">
                        <a:lnSpc>
                          <a:spcPts val="1960"/>
                        </a:lnSpc>
                        <a:buNone/>
                      </a:pPr>
                      <a:r>
                        <a:rPr lang="en-US" sz="1400" b="1" dirty="0">
                          <a:solidFill>
                            <a:srgbClr val="F2F0EA"/>
                          </a:solidFill>
                          <a:latin typeface="IBM Plex Sans" pitchFamily="34" charset="0"/>
                          <a:ea typeface="IBM Plex Sans" pitchFamily="34" charset="-122"/>
                          <a:cs typeface="IBM Plex Sans" pitchFamily="34" charset="-120"/>
                        </a:rPr>
                        <a:t>Held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2025"/>
                      </a:solidFill>
                      <a:prstDash val="solid"/>
                      <a:round/>
                      <a:headEnd type="none" w="med" len="med"/>
                      <a:tailEnd type="none" w="med" len="med"/>
                    </a:lnL>
                    <a:lnR w="12700" cap="flat" cmpd="sng" algn="ctr">
                      <a:solidFill>
                        <a:srgbClr val="162025"/>
                      </a:solidFill>
                      <a:prstDash val="solid"/>
                      <a:round/>
                      <a:headEnd type="none" w="med" len="med"/>
                      <a:tailEnd type="none" w="med" len="med"/>
                    </a:lnR>
                    <a:lnT w="0" cap="flat" cmpd="sng" algn="ctr">
                      <a:noFill/>
                    </a:lnT>
                    <a:lnB w="12700" cap="flat" cmpd="sng" algn="ctr">
                      <a:solidFill>
                        <a:srgbClr val="162025"/>
                      </a:solidFill>
                      <a:prstDash val="solid"/>
                      <a:round/>
                      <a:headEnd type="none" w="med" len="med"/>
                      <a:tailEnd type="none" w="med" len="med"/>
                    </a:lnB>
                    <a:solidFill>
                      <a:srgbClr val="16232A"/>
                    </a:solidFill>
                  </a:tcPr>
                </a:tc>
                <a:tc>
                  <a:txBody>
                    <a:bodyPr/>
                    <a:lstStyle/>
                    <a:p>
                      <a:pPr indent="0" marL="0">
                        <a:lnSpc>
                          <a:spcPts val="1960"/>
                        </a:lnSpc>
                        <a:buNone/>
                      </a:pPr>
                      <a:r>
                        <a:rPr lang="en-US" sz="1400" b="1" dirty="0">
                          <a:solidFill>
                            <a:srgbClr val="F2F0EA"/>
                          </a:solidFill>
                          <a:latin typeface="IBM Plex Sans" pitchFamily="34" charset="0"/>
                          <a:ea typeface="IBM Plex Sans" pitchFamily="34" charset="-122"/>
                          <a:cs typeface="IBM Plex Sans" pitchFamily="34" charset="-120"/>
                        </a:rPr>
                        <a:t>Result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62025"/>
                      </a:solidFill>
                      <a:prstDash val="solid"/>
                      <a:round/>
                      <a:headEnd type="none" w="med" len="med"/>
                      <a:tailEnd type="none" w="med" len="med"/>
                    </a:lnL>
                    <a:lnR w="12700" cap="flat" cmpd="sng" algn="ctr">
                      <a:solidFill>
                        <a:srgbClr val="162025"/>
                      </a:solidFill>
                      <a:prstDash val="solid"/>
                      <a:round/>
                      <a:headEnd type="none" w="med" len="med"/>
                      <a:tailEnd type="none" w="med" len="med"/>
                    </a:lnR>
                    <a:lnT w="0" cap="flat" cmpd="sng" algn="ctr">
                      <a:noFill/>
                    </a:lnT>
                    <a:lnB w="12700" cap="flat" cmpd="sng" algn="ctr">
                      <a:solidFill>
                        <a:srgbClr val="162025"/>
                      </a:solidFill>
                      <a:prstDash val="solid"/>
                      <a:round/>
                      <a:headEnd type="none" w="med" len="med"/>
                      <a:tailEnd type="none" w="med" len="med"/>
                    </a:lnB>
                    <a:solidFill>
                      <a:srgbClr val="16232A"/>
                    </a:solidFill>
                  </a:tcPr>
                </a:tc>
              </a:tr>
              <a:tr h="3860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Hardware skills at level 3 or above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17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6B4A8C"/>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860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Hardware skills at level 4 or above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1BC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1BCAD"/>
                      </a:solidFill>
                      <a:prstDash val="solid"/>
                      <a:round/>
                      <a:headEnd type="none" w="med" len="med"/>
                      <a:tailEnd type="none" w="med" len="med"/>
                    </a:lnB>
                    <a:solidFill>
                      <a:srgbClr val="F2EBD8"/>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1BCAD"/>
                      </a:solidFill>
                      <a:prstDash val="solid"/>
                      <a:round/>
                      <a:headEnd type="none" w="med" len="med"/>
                      <a:tailEnd type="none" w="med" len="med"/>
                    </a:lnL>
                    <a:lnR w="12700" cap="flat" cmpd="sng" algn="ctr">
                      <a:solidFill>
                        <a:srgbClr val="C1BC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1BCAD"/>
                      </a:solidFill>
                      <a:prstDash val="solid"/>
                      <a:round/>
                      <a:headEnd type="none" w="med" len="med"/>
                      <a:tailEnd type="none" w="med" len="med"/>
                    </a:lnB>
                    <a:solidFill>
                      <a:srgbClr val="F2EBD8"/>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1BCAD"/>
                      </a:solidFill>
                      <a:prstDash val="solid"/>
                      <a:round/>
                      <a:headEnd type="none" w="med" len="med"/>
                      <a:tailEnd type="none" w="med" len="med"/>
                    </a:lnL>
                    <a:lnR w="12700" cap="flat" cmpd="sng" algn="ctr">
                      <a:solidFill>
                        <a:srgbClr val="C1BC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1BCAD"/>
                      </a:solidFill>
                      <a:prstDash val="solid"/>
                      <a:round/>
                      <a:headEnd type="none" w="med" len="med"/>
                      <a:tailEnd type="none" w="med" len="med"/>
                    </a:lnB>
                    <a:solidFill>
                      <a:srgbClr val="F2EBD8"/>
                    </a:solidFill>
                  </a:tcPr>
                </a:tc>
                <a:tc>
                  <a:txBody>
                    <a:bodyPr/>
                    <a:lstStyle/>
                    <a:p>
                      <a:pPr indent="0" marL="0">
                        <a:lnSpc>
                          <a:spcPts val="1960"/>
                        </a:lnSpc>
                        <a:buNone/>
                      </a:pPr>
                      <a:r>
                        <a:rPr lang="en-US" sz="1400" dirty="0">
                          <a:solidFill>
                            <a:srgbClr val="7A5C1C"/>
                          </a:solidFill>
                          <a:latin typeface="IBM Plex Sans" pitchFamily="34" charset="0"/>
                          <a:ea typeface="IBM Plex Sans" pitchFamily="34" charset="-122"/>
                          <a:cs typeface="IBM Plex Sans" pitchFamily="34" charset="-120"/>
                        </a:rPr>
                        <a:t>Short by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1BCAD"/>
                      </a:solidFill>
                      <a:prstDash val="solid"/>
                      <a:round/>
                      <a:headEnd type="none" w="med" len="med"/>
                      <a:tailEnd type="none" w="med" len="med"/>
                    </a:lnL>
                    <a:lnR w="12700" cap="flat" cmpd="sng" algn="ctr">
                      <a:solidFill>
                        <a:srgbClr val="C1BCAD"/>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1BCAD"/>
                      </a:solidFill>
                      <a:prstDash val="solid"/>
                      <a:round/>
                      <a:headEnd type="none" w="med" len="med"/>
                      <a:tailEnd type="none" w="med" len="med"/>
                    </a:lnB>
                    <a:solidFill>
                      <a:srgbClr val="F2EBD8"/>
                    </a:solidFill>
                  </a:tcPr>
                </a:tc>
              </a:tr>
              <a:tr h="3860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Categories held at level 2 or above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1BC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1BC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1BC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6B4A8C"/>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1BCAD"/>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860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Foundations average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1.50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1.64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6B4A8C"/>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860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Report writing, pinned</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6B4A8C"/>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860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Quality assurance, pinned</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6B4A8C"/>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r h="3860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Standards knowledge, pinned</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c>
                  <a:txBody>
                    <a:bodyPr/>
                    <a:lstStyle/>
                    <a:p>
                      <a:pPr indent="0" marL="0">
                        <a:lnSpc>
                          <a:spcPts val="1960"/>
                        </a:lnSpc>
                        <a:buNone/>
                      </a:pPr>
                      <a:r>
                        <a:rPr lang="en-US" sz="1400" dirty="0">
                          <a:solidFill>
                            <a:srgbClr val="6B4A8C"/>
                          </a:solidFill>
                          <a:latin typeface="IBM Plex Sans" pitchFamily="34" charset="0"/>
                          <a:ea typeface="IBM Plex Sans" pitchFamily="34" charset="-122"/>
                          <a:cs typeface="IBM Plex Sans" pitchFamily="34" charset="-120"/>
                        </a:rPr>
                        <a:t>Met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solidFill>
                      <a:srgbClr val="FBFAF6"/>
                    </a:solidFill>
                  </a:tcPr>
                </a:tc>
              </a:tr>
            </a:tbl>
          </a:graphicData>
        </a:graphic>
      </p:graphicFrame>
      <p:sp>
        <p:nvSpPr>
          <p:cNvPr id="7" name="Text 4"/>
          <p:cNvSpPr/>
          <p:nvPr/>
        </p:nvSpPr>
        <p:spPr>
          <a:xfrm>
            <a:off x="812800" y="5289550"/>
            <a:ext cx="967994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Six gates of seven are met. The person remains a Hardware Security Evaluator, and the system states exactly why: two more hardware skills need to reach level 4.</a:t>
            </a:r>
            <a:endParaRPr lang="en-US" sz="1500" dirty="0"/>
          </a:p>
        </p:txBody>
      </p:sp>
      <p:sp>
        <p:nvSpPr>
          <p:cNvPr id="8" name="Text 5"/>
          <p:cNvSpPr/>
          <p:nvPr/>
        </p:nvSpPr>
        <p:spPr>
          <a:xfrm>
            <a:off x="812800" y="6238242"/>
            <a:ext cx="8970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Case study</a:t>
            </a:r>
            <a:endParaRPr lang="en-US" sz="1200" dirty="0"/>
          </a:p>
        </p:txBody>
      </p:sp>
      <p:sp>
        <p:nvSpPr>
          <p:cNvPr id="9" name="Text 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What the gap becomes</a:t>
            </a:r>
            <a:endParaRPr lang="en-US" sz="3400" dirty="0"/>
          </a:p>
        </p:txBody>
      </p:sp>
      <p:sp>
        <p:nvSpPr>
          <p:cNvPr id="3" name="Shape 1"/>
          <p:cNvSpPr/>
          <p:nvPr/>
        </p:nvSpPr>
        <p:spPr>
          <a:xfrm>
            <a:off x="2085975" y="1962677"/>
            <a:ext cx="2660650" cy="946150"/>
          </a:xfrm>
          <a:prstGeom prst="roundRect">
            <a:avLst>
              <a:gd name="adj" fmla="val 6376"/>
            </a:avLst>
          </a:prstGeom>
          <a:solidFill>
            <a:srgbClr val="FBFAF6"/>
          </a:solidFill>
          <a:ln w="6350">
            <a:solidFill>
              <a:srgbClr val="D3D0C6"/>
            </a:solidFill>
            <a:prstDash val="solid"/>
          </a:ln>
        </p:spPr>
      </p:sp>
      <p:sp>
        <p:nvSpPr>
          <p:cNvPr id="4" name="Text 2"/>
          <p:cNvSpPr/>
          <p:nvPr/>
        </p:nvSpPr>
        <p:spPr>
          <a:xfrm>
            <a:off x="2266950" y="2143652"/>
            <a:ext cx="2367661" cy="193252"/>
          </a:xfrm>
          <a:prstGeom prst="rect">
            <a:avLst/>
          </a:prstGeom>
          <a:noFill/>
          <a:ln/>
        </p:spPr>
        <p:txBody>
          <a:bodyPr wrap="square" lIns="0" tIns="0" rIns="0" bIns="0" rtlCol="0" anchor="t">
            <a:normAutofit/>
          </a:bodyPr>
          <a:lstStyle/>
          <a:p>
            <a:pPr algn="l" indent="0" marL="0">
              <a:lnSpc>
                <a:spcPts val="1323"/>
              </a:lnSpc>
              <a:buNone/>
            </a:pPr>
            <a:r>
              <a:rPr lang="en-US" sz="945" b="1" dirty="0">
                <a:solidFill>
                  <a:srgbClr val="16232A"/>
                </a:solidFill>
                <a:latin typeface="IBM Plex Sans" pitchFamily="34" charset="0"/>
                <a:ea typeface="IBM Plex Sans" pitchFamily="34" charset="-122"/>
                <a:cs typeface="IBM Plex Sans" pitchFamily="34" charset="-120"/>
              </a:rPr>
              <a:t>Gap computed</a:t>
            </a:r>
            <a:endParaRPr lang="en-US" sz="945" dirty="0"/>
          </a:p>
        </p:txBody>
      </p:sp>
      <p:sp>
        <p:nvSpPr>
          <p:cNvPr id="5" name="Text 3"/>
          <p:cNvSpPr/>
          <p:nvPr/>
        </p:nvSpPr>
        <p:spPr>
          <a:xfrm>
            <a:off x="2266950" y="2311505"/>
            <a:ext cx="2367661" cy="441748"/>
          </a:xfrm>
          <a:prstGeom prst="rect">
            <a:avLst/>
          </a:prstGeom>
          <a:noFill/>
          <a:ln/>
        </p:spPr>
        <p:txBody>
          <a:bodyPr wrap="square" lIns="0" tIns="0" rIns="0" bIns="0" rtlCol="0" anchor="t">
            <a:normAutofit/>
          </a:bodyPr>
          <a:lstStyle/>
          <a:p>
            <a:pPr algn="l" indent="0" marL="0">
              <a:lnSpc>
                <a:spcPts val="1387"/>
              </a:lnSpc>
              <a:buNone/>
            </a:pPr>
            <a:r>
              <a:rPr lang="en-US" sz="1028" dirty="0">
                <a:solidFill>
                  <a:srgbClr val="55646B"/>
                </a:solidFill>
                <a:latin typeface="IBM Plex Sans" pitchFamily="34" charset="0"/>
                <a:ea typeface="IBM Plex Sans" pitchFamily="34" charset="-122"/>
                <a:cs typeface="IBM Plex Sans" pitchFamily="34" charset="-120"/>
              </a:rPr>
              <a:t>Two hardware skills must reach level 4. The system names which are closest.</a:t>
            </a:r>
            <a:endParaRPr lang="en-US" sz="1028" dirty="0"/>
          </a:p>
        </p:txBody>
      </p:sp>
      <p:sp>
        <p:nvSpPr>
          <p:cNvPr id="6" name="Shape 4"/>
          <p:cNvSpPr/>
          <p:nvPr/>
        </p:nvSpPr>
        <p:spPr>
          <a:xfrm>
            <a:off x="7448550" y="1965852"/>
            <a:ext cx="2654300" cy="939800"/>
          </a:xfrm>
          <a:prstGeom prst="roundRect">
            <a:avLst>
              <a:gd name="adj" fmla="val 6081"/>
            </a:avLst>
          </a:prstGeom>
          <a:solidFill>
            <a:srgbClr val="EEE8F4"/>
          </a:solidFill>
          <a:ln w="12700">
            <a:solidFill>
              <a:srgbClr val="6B4A8C"/>
            </a:solidFill>
            <a:prstDash val="solid"/>
          </a:ln>
        </p:spPr>
      </p:sp>
      <p:sp>
        <p:nvSpPr>
          <p:cNvPr id="7" name="Text 5"/>
          <p:cNvSpPr/>
          <p:nvPr/>
        </p:nvSpPr>
        <p:spPr>
          <a:xfrm>
            <a:off x="7632700" y="2150002"/>
            <a:ext cx="2354580" cy="240771"/>
          </a:xfrm>
          <a:prstGeom prst="rect">
            <a:avLst/>
          </a:prstGeom>
          <a:noFill/>
          <a:ln/>
        </p:spPr>
        <p:txBody>
          <a:bodyPr wrap="square" lIns="0" tIns="0" rIns="0" bIns="0" rtlCol="0" anchor="t">
            <a:normAutofit/>
          </a:bodyPr>
          <a:lstStyle/>
          <a:p>
            <a:pPr algn="l" indent="0" marL="0">
              <a:lnSpc>
                <a:spcPts val="1721"/>
              </a:lnSpc>
              <a:buNone/>
            </a:pPr>
            <a:r>
              <a:rPr lang="en-US" sz="1229" b="1" dirty="0">
                <a:solidFill>
                  <a:srgbClr val="6B4A8C"/>
                </a:solidFill>
                <a:latin typeface="IBM Plex Sans" pitchFamily="34" charset="0"/>
                <a:ea typeface="IBM Plex Sans" pitchFamily="34" charset="-122"/>
                <a:cs typeface="IBM Plex Sans" pitchFamily="34" charset="-120"/>
              </a:rPr>
              <a:t>Plan agreed</a:t>
            </a:r>
            <a:endParaRPr lang="en-US" sz="1229" dirty="0"/>
          </a:p>
        </p:txBody>
      </p:sp>
      <p:sp>
        <p:nvSpPr>
          <p:cNvPr id="8" name="Text 6"/>
          <p:cNvSpPr/>
          <p:nvPr/>
        </p:nvSpPr>
        <p:spPr>
          <a:xfrm>
            <a:off x="7632700" y="2365375"/>
            <a:ext cx="2354580" cy="381529"/>
          </a:xfrm>
          <a:prstGeom prst="rect">
            <a:avLst/>
          </a:prstGeom>
          <a:noFill/>
          <a:ln/>
        </p:spPr>
        <p:txBody>
          <a:bodyPr wrap="square" lIns="0" tIns="0" rIns="0" bIns="0" rtlCol="0" anchor="t">
            <a:normAutofit/>
          </a:bodyPr>
          <a:lstStyle/>
          <a:p>
            <a:pPr algn="l" indent="0" marL="0">
              <a:lnSpc>
                <a:spcPts val="1407"/>
              </a:lnSpc>
              <a:buNone/>
            </a:pPr>
            <a:r>
              <a:rPr lang="en-US" sz="1043" dirty="0">
                <a:solidFill>
                  <a:srgbClr val="55646B"/>
                </a:solidFill>
                <a:latin typeface="IBM Plex Sans" pitchFamily="34" charset="0"/>
                <a:ea typeface="IBM Plex Sans" pitchFamily="34" charset="-122"/>
                <a:cs typeface="IBM Plex Sans" pitchFamily="34" charset="-120"/>
              </a:rPr>
              <a:t>Current level, target level, a target date and the actions.</a:t>
            </a:r>
            <a:endParaRPr lang="en-US" sz="1043" dirty="0"/>
          </a:p>
        </p:txBody>
      </p:sp>
      <p:sp>
        <p:nvSpPr>
          <p:cNvPr id="9" name="Shape 7"/>
          <p:cNvSpPr/>
          <p:nvPr/>
        </p:nvSpPr>
        <p:spPr>
          <a:xfrm>
            <a:off x="7445375" y="3677177"/>
            <a:ext cx="2660650" cy="946150"/>
          </a:xfrm>
          <a:prstGeom prst="roundRect">
            <a:avLst>
              <a:gd name="adj" fmla="val 6376"/>
            </a:avLst>
          </a:prstGeom>
          <a:solidFill>
            <a:srgbClr val="FBFAF6"/>
          </a:solidFill>
          <a:ln w="6350">
            <a:solidFill>
              <a:srgbClr val="D3D0C6"/>
            </a:solidFill>
            <a:prstDash val="solid"/>
          </a:ln>
        </p:spPr>
      </p:sp>
      <p:sp>
        <p:nvSpPr>
          <p:cNvPr id="10" name="Text 8"/>
          <p:cNvSpPr/>
          <p:nvPr/>
        </p:nvSpPr>
        <p:spPr>
          <a:xfrm>
            <a:off x="7626350" y="3858152"/>
            <a:ext cx="2367661" cy="245639"/>
          </a:xfrm>
          <a:prstGeom prst="rect">
            <a:avLst/>
          </a:prstGeom>
          <a:noFill/>
          <a:ln/>
        </p:spPr>
        <p:txBody>
          <a:bodyPr wrap="square" lIns="0" tIns="0" rIns="0" bIns="0" rtlCol="0" anchor="t">
            <a:normAutofit/>
          </a:bodyPr>
          <a:lstStyle/>
          <a:p>
            <a:pPr algn="l" indent="0" marL="0">
              <a:lnSpc>
                <a:spcPts val="1770"/>
              </a:lnSpc>
              <a:buNone/>
            </a:pPr>
            <a:r>
              <a:rPr lang="en-US" sz="1264" b="1" dirty="0">
                <a:solidFill>
                  <a:srgbClr val="16232A"/>
                </a:solidFill>
                <a:latin typeface="IBM Plex Sans" pitchFamily="34" charset="0"/>
                <a:ea typeface="IBM Plex Sans" pitchFamily="34" charset="-122"/>
                <a:cs typeface="IBM Plex Sans" pitchFamily="34" charset="-120"/>
              </a:rPr>
              <a:t>Evidence produced</a:t>
            </a:r>
            <a:endParaRPr lang="en-US" sz="1264" dirty="0"/>
          </a:p>
        </p:txBody>
      </p:sp>
      <p:sp>
        <p:nvSpPr>
          <p:cNvPr id="11" name="Text 9"/>
          <p:cNvSpPr/>
          <p:nvPr/>
        </p:nvSpPr>
        <p:spPr>
          <a:xfrm>
            <a:off x="7626350" y="4078393"/>
            <a:ext cx="2367661" cy="389361"/>
          </a:xfrm>
          <a:prstGeom prst="rect">
            <a:avLst/>
          </a:prstGeom>
          <a:noFill/>
          <a:ln/>
        </p:spPr>
        <p:txBody>
          <a:bodyPr wrap="square" lIns="0" tIns="0" rIns="0" bIns="0" rtlCol="0" anchor="t">
            <a:normAutofit/>
          </a:bodyPr>
          <a:lstStyle/>
          <a:p>
            <a:pPr algn="l" indent="0" marL="0">
              <a:lnSpc>
                <a:spcPts val="1433"/>
              </a:lnSpc>
              <a:buNone/>
            </a:pPr>
            <a:r>
              <a:rPr lang="en-US" sz="1061" dirty="0">
                <a:solidFill>
                  <a:srgbClr val="55646B"/>
                </a:solidFill>
                <a:latin typeface="IBM Plex Sans" pitchFamily="34" charset="0"/>
                <a:ea typeface="IBM Plex Sans" pitchFamily="34" charset="-122"/>
                <a:cs typeface="IBM Plex Sans" pitchFamily="34" charset="-120"/>
              </a:rPr>
              <a:t>Engagements chosen to generate what the written criteria ask for.</a:t>
            </a:r>
            <a:endParaRPr lang="en-US" sz="1061" dirty="0"/>
          </a:p>
        </p:txBody>
      </p:sp>
      <p:sp>
        <p:nvSpPr>
          <p:cNvPr id="12" name="Shape 10"/>
          <p:cNvSpPr/>
          <p:nvPr/>
        </p:nvSpPr>
        <p:spPr>
          <a:xfrm>
            <a:off x="2085975" y="3677177"/>
            <a:ext cx="2660650" cy="946150"/>
          </a:xfrm>
          <a:prstGeom prst="roundRect">
            <a:avLst>
              <a:gd name="adj" fmla="val 6376"/>
            </a:avLst>
          </a:prstGeom>
          <a:solidFill>
            <a:srgbClr val="FBFAF6"/>
          </a:solidFill>
          <a:ln w="6350">
            <a:solidFill>
              <a:srgbClr val="D3D0C6"/>
            </a:solidFill>
            <a:prstDash val="solid"/>
          </a:ln>
        </p:spPr>
      </p:sp>
      <p:sp>
        <p:nvSpPr>
          <p:cNvPr id="13" name="Text 11"/>
          <p:cNvSpPr/>
          <p:nvPr/>
        </p:nvSpPr>
        <p:spPr>
          <a:xfrm>
            <a:off x="2266950" y="3858152"/>
            <a:ext cx="2367661" cy="245639"/>
          </a:xfrm>
          <a:prstGeom prst="rect">
            <a:avLst/>
          </a:prstGeom>
          <a:noFill/>
          <a:ln/>
        </p:spPr>
        <p:txBody>
          <a:bodyPr wrap="square" lIns="0" tIns="0" rIns="0" bIns="0" rtlCol="0" anchor="t">
            <a:normAutofit/>
          </a:bodyPr>
          <a:lstStyle/>
          <a:p>
            <a:pPr algn="l" indent="0" marL="0">
              <a:lnSpc>
                <a:spcPts val="1770"/>
              </a:lnSpc>
              <a:buNone/>
            </a:pPr>
            <a:r>
              <a:rPr lang="en-US" sz="1264" b="1" dirty="0">
                <a:solidFill>
                  <a:srgbClr val="16232A"/>
                </a:solidFill>
                <a:latin typeface="IBM Plex Sans" pitchFamily="34" charset="0"/>
                <a:ea typeface="IBM Plex Sans" pitchFamily="34" charset="-122"/>
                <a:cs typeface="IBM Plex Sans" pitchFamily="34" charset="-120"/>
              </a:rPr>
              <a:t>Re-assessed</a:t>
            </a:r>
            <a:endParaRPr lang="en-US" sz="1264" dirty="0"/>
          </a:p>
        </p:txBody>
      </p:sp>
      <p:sp>
        <p:nvSpPr>
          <p:cNvPr id="14" name="Text 12"/>
          <p:cNvSpPr/>
          <p:nvPr/>
        </p:nvSpPr>
        <p:spPr>
          <a:xfrm>
            <a:off x="2266950" y="4078393"/>
            <a:ext cx="2367661" cy="389361"/>
          </a:xfrm>
          <a:prstGeom prst="rect">
            <a:avLst/>
          </a:prstGeom>
          <a:noFill/>
          <a:ln/>
        </p:spPr>
        <p:txBody>
          <a:bodyPr wrap="square" lIns="0" tIns="0" rIns="0" bIns="0" rtlCol="0" anchor="t">
            <a:normAutofit/>
          </a:bodyPr>
          <a:lstStyle/>
          <a:p>
            <a:pPr algn="l" indent="0" marL="0">
              <a:lnSpc>
                <a:spcPts val="1433"/>
              </a:lnSpc>
              <a:buNone/>
            </a:pPr>
            <a:r>
              <a:rPr lang="en-US" sz="1061" dirty="0">
                <a:solidFill>
                  <a:srgbClr val="55646B"/>
                </a:solidFill>
                <a:latin typeface="IBM Plex Sans" pitchFamily="34" charset="0"/>
                <a:ea typeface="IBM Plex Sans" pitchFamily="34" charset="-122"/>
                <a:cs typeface="IBM Plex Sans" pitchFamily="34" charset="-120"/>
              </a:rPr>
              <a:t>Against the same criteria, by a named assessor, on a new date.</a:t>
            </a:r>
            <a:endParaRPr lang="en-US" sz="1061" dirty="0"/>
          </a:p>
        </p:txBody>
      </p:sp>
      <p:sp>
        <p:nvSpPr>
          <p:cNvPr id="15" name="Text 13"/>
          <p:cNvSpPr/>
          <p:nvPr/>
        </p:nvSpPr>
        <p:spPr>
          <a:xfrm>
            <a:off x="4997196" y="3064402"/>
            <a:ext cx="2197608" cy="694055"/>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6B4A8C"/>
                </a:solidFill>
                <a:latin typeface="IBM Plex Sans" pitchFamily="34" charset="0"/>
                <a:ea typeface="IBM Plex Sans" pitchFamily="34" charset="-122"/>
                <a:cs typeface="IBM Plex Sans" pitchFamily="34" charset="-120"/>
              </a:rPr>
              <a:t>The loop that keeps records current between review cycles</a:t>
            </a:r>
            <a:endParaRPr lang="en-US" sz="1300" dirty="0"/>
          </a:p>
        </p:txBody>
      </p:sp>
      <p:pic>
        <p:nvPicPr>
          <p:cNvPr id="16" name="Image 0" descr="connector">    </p:cNvPr>
          <p:cNvPicPr>
            <a:picLocks noChangeAspect="1"/>
          </p:cNvPicPr>
          <p:nvPr/>
        </p:nvPicPr>
        <p:blipFill>
          <a:blip r:embed="rId1"/>
          <a:srcRect l="0" r="0" t="0" b="0"/>
          <a:stretch/>
        </p:blipFill>
        <p:spPr>
          <a:xfrm>
            <a:off x="4699000" y="2384952"/>
            <a:ext cx="2794000" cy="101600"/>
          </a:xfrm>
          <a:prstGeom prst="rect">
            <a:avLst/>
          </a:prstGeom>
        </p:spPr>
      </p:pic>
      <p:pic>
        <p:nvPicPr>
          <p:cNvPr id="17" name="Image 1" descr="connector">    </p:cNvPr>
          <p:cNvPicPr>
            <a:picLocks noChangeAspect="1"/>
          </p:cNvPicPr>
          <p:nvPr/>
        </p:nvPicPr>
        <p:blipFill>
          <a:blip r:embed="rId2"/>
          <a:srcRect l="0" r="0" t="0" b="0"/>
          <a:stretch/>
        </p:blipFill>
        <p:spPr>
          <a:xfrm>
            <a:off x="8724900" y="2861202"/>
            <a:ext cx="101600" cy="863600"/>
          </a:xfrm>
          <a:prstGeom prst="rect">
            <a:avLst/>
          </a:prstGeom>
        </p:spPr>
      </p:pic>
      <p:pic>
        <p:nvPicPr>
          <p:cNvPr id="18" name="Image 2" descr="connector">    </p:cNvPr>
          <p:cNvPicPr>
            <a:picLocks noChangeAspect="1"/>
          </p:cNvPicPr>
          <p:nvPr/>
        </p:nvPicPr>
        <p:blipFill>
          <a:blip r:embed="rId3"/>
          <a:srcRect l="0" r="0" t="0" b="0"/>
          <a:stretch/>
        </p:blipFill>
        <p:spPr>
          <a:xfrm>
            <a:off x="4699000" y="4099452"/>
            <a:ext cx="2794000" cy="101600"/>
          </a:xfrm>
          <a:prstGeom prst="rect">
            <a:avLst/>
          </a:prstGeom>
        </p:spPr>
      </p:pic>
      <p:pic>
        <p:nvPicPr>
          <p:cNvPr id="19" name="Image 3" descr="connector">    </p:cNvPr>
          <p:cNvPicPr>
            <a:picLocks noChangeAspect="1"/>
          </p:cNvPicPr>
          <p:nvPr/>
        </p:nvPicPr>
        <p:blipFill>
          <a:blip r:embed="rId4"/>
          <a:srcRect l="0" r="0" t="0" b="0"/>
          <a:stretch/>
        </p:blipFill>
        <p:spPr>
          <a:xfrm>
            <a:off x="3365500" y="2861202"/>
            <a:ext cx="101600" cy="863600"/>
          </a:xfrm>
          <a:prstGeom prst="rect">
            <a:avLst/>
          </a:prstGeom>
        </p:spPr>
      </p:pic>
      <p:sp>
        <p:nvSpPr>
          <p:cNvPr id="20" name="Text 14"/>
          <p:cNvSpPr/>
          <p:nvPr/>
        </p:nvSpPr>
        <p:spPr>
          <a:xfrm>
            <a:off x="812800" y="5289550"/>
            <a:ext cx="967994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Because the actions trace back to written criteria, "get better at side-channel analysis" becomes "second-chair two acquisition campaigns before the end of Q3".</a:t>
            </a:r>
            <a:endParaRPr lang="en-US" sz="1500" dirty="0"/>
          </a:p>
        </p:txBody>
      </p:sp>
      <p:sp>
        <p:nvSpPr>
          <p:cNvPr id="21" name="Text 15"/>
          <p:cNvSpPr/>
          <p:nvPr/>
        </p:nvSpPr>
        <p:spPr>
          <a:xfrm>
            <a:off x="812800" y="6238242"/>
            <a:ext cx="8970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Case study</a:t>
            </a:r>
            <a:endParaRPr lang="en-US" sz="1200" dirty="0"/>
          </a:p>
        </p:txBody>
      </p:sp>
      <p:sp>
        <p:nvSpPr>
          <p:cNvPr id="22" name="Text 1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32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F2F0EA"/>
                </a:solidFill>
                <a:latin typeface="Source Serif 4" pitchFamily="18" charset="0"/>
                <a:ea typeface="Source Serif 4" pitchFamily="18" charset="-122"/>
                <a:cs typeface="Source Serif 4" pitchFamily="18" charset="-120"/>
              </a:rPr>
              <a:t>What the system does not measure</a:t>
            </a:r>
            <a:endParaRPr lang="en-US" sz="3400" dirty="0"/>
          </a:p>
        </p:txBody>
      </p:sp>
      <p:sp>
        <p:nvSpPr>
          <p:cNvPr id="3" name="Shape 1"/>
          <p:cNvSpPr/>
          <p:nvPr/>
        </p:nvSpPr>
        <p:spPr>
          <a:xfrm>
            <a:off x="812800" y="2133811"/>
            <a:ext cx="5080000" cy="2318385"/>
          </a:xfrm>
          <a:prstGeom prst="roundRect">
            <a:avLst>
              <a:gd name="adj" fmla="val 2739"/>
            </a:avLst>
          </a:prstGeom>
          <a:solidFill>
            <a:srgbClr val="1E2E36"/>
          </a:solidFill>
          <a:ln/>
        </p:spPr>
      </p:sp>
      <p:sp>
        <p:nvSpPr>
          <p:cNvPr id="4" name="Shape 2"/>
          <p:cNvSpPr/>
          <p:nvPr/>
        </p:nvSpPr>
        <p:spPr>
          <a:xfrm>
            <a:off x="812800" y="2133811"/>
            <a:ext cx="5080000" cy="2318385"/>
          </a:xfrm>
          <a:custGeom>
            <a:avLst/>
            <a:gdLst/>
            <a:ahLst/>
            <a:cxnLst/>
            <a:rect l="l" t="t" r="r" b="b"/>
            <a:pathLst>
              <a:path w="5080000" h="2318385">
                <a:moveTo>
                  <a:pt x="63500" y="2318385"/>
                </a:moveTo>
                <a:lnTo>
                  <a:pt x="63500" y="2318385"/>
                </a:lnTo>
                <a:arcTo hR="63500" wR="63500" stAng="5400000" swAng="5400000"/>
                <a:lnTo>
                  <a:pt x="0" y="63500"/>
                </a:lnTo>
                <a:arcTo hR="63500" wR="63500" stAng="10800000" swAng="5400000"/>
                <a:lnTo>
                  <a:pt x="63500" y="0"/>
                </a:lnTo>
                <a:arcTo hR="63500" wR="38100" stAng="16200000" swAng="-5400000"/>
                <a:lnTo>
                  <a:pt x="25400" y="2254885"/>
                </a:lnTo>
                <a:arcTo hR="63500" wR="38100" stAng="10800000" swAng="-5400000"/>
                <a:close/>
              </a:path>
            </a:pathLst>
          </a:custGeom>
          <a:solidFill>
            <a:srgbClr val="B9A0DA"/>
          </a:solidFill>
          <a:ln/>
        </p:spPr>
      </p:sp>
      <p:sp>
        <p:nvSpPr>
          <p:cNvPr id="5" name="Text 3"/>
          <p:cNvSpPr/>
          <p:nvPr/>
        </p:nvSpPr>
        <p:spPr>
          <a:xfrm>
            <a:off x="1092200" y="2387811"/>
            <a:ext cx="468299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9A0DA"/>
                </a:solidFill>
                <a:latin typeface="IBM Plex Sans" pitchFamily="34" charset="0"/>
                <a:ea typeface="IBM Plex Sans" pitchFamily="34" charset="-122"/>
                <a:cs typeface="IBM Plex Sans" pitchFamily="34" charset="-120"/>
              </a:rPr>
              <a:t>What it does measure</a:t>
            </a:r>
            <a:endParaRPr lang="en-US" sz="1600" dirty="0"/>
          </a:p>
        </p:txBody>
      </p:sp>
      <p:sp>
        <p:nvSpPr>
          <p:cNvPr id="6" name="Text 4"/>
          <p:cNvSpPr/>
          <p:nvPr/>
        </p:nvSpPr>
        <p:spPr>
          <a:xfrm>
            <a:off x="1152144" y="2745953"/>
            <a:ext cx="4616196" cy="992505"/>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F2F0EA"/>
                </a:solidFill>
                <a:latin typeface="IBM Plex Sans" pitchFamily="34" charset="0"/>
                <a:ea typeface="IBM Plex Sans" pitchFamily="34" charset="-122"/>
                <a:cs typeface="IBM Plex Sans" pitchFamily="34" charset="-120"/>
              </a:rPr>
              <a:t>Assessed capability, per named activity</a:t>
            </a:r>
            <a:endParaRPr lang="en-US" sz="1300" dirty="0"/>
          </a:p>
          <a:p>
            <a:pPr algn="l" marL="168656" indent="-168656">
              <a:lnSpc>
                <a:spcPts val="1885"/>
              </a:lnSpc>
              <a:buSzPct val="100000"/>
              <a:buChar char="•"/>
            </a:pPr>
            <a:r>
              <a:rPr lang="en-US" sz="1300" dirty="0">
                <a:solidFill>
                  <a:srgbClr val="F2F0EA"/>
                </a:solidFill>
                <a:latin typeface="IBM Plex Sans" pitchFamily="34" charset="0"/>
                <a:ea typeface="IBM Plex Sans" pitchFamily="34" charset="-122"/>
                <a:cs typeface="IBM Plex Sans" pitchFamily="34" charset="-120"/>
              </a:rPr>
              <a:t>Breadth and depth within one domain</a:t>
            </a:r>
            <a:endParaRPr lang="en-US" sz="1300" dirty="0"/>
          </a:p>
          <a:p>
            <a:pPr algn="l" marL="168656" indent="-168656">
              <a:lnSpc>
                <a:spcPts val="1885"/>
              </a:lnSpc>
              <a:buSzPct val="100000"/>
              <a:buChar char="•"/>
            </a:pPr>
            <a:r>
              <a:rPr lang="en-US" sz="1300" dirty="0">
                <a:solidFill>
                  <a:srgbClr val="F2F0EA"/>
                </a:solidFill>
                <a:latin typeface="IBM Plex Sans" pitchFamily="34" charset="0"/>
                <a:ea typeface="IBM Plex Sans" pitchFamily="34" charset="-122"/>
                <a:cs typeface="IBM Plex Sans" pitchFamily="34" charset="-120"/>
              </a:rPr>
              <a:t>Whether authorization was granted, by whom, and on what date</a:t>
            </a:r>
            <a:endParaRPr lang="en-US" sz="1300" dirty="0"/>
          </a:p>
        </p:txBody>
      </p:sp>
      <p:sp>
        <p:nvSpPr>
          <p:cNvPr id="7" name="Shape 5"/>
          <p:cNvSpPr/>
          <p:nvPr/>
        </p:nvSpPr>
        <p:spPr>
          <a:xfrm>
            <a:off x="6299200" y="2133811"/>
            <a:ext cx="5080000" cy="2318385"/>
          </a:xfrm>
          <a:prstGeom prst="roundRect">
            <a:avLst>
              <a:gd name="adj" fmla="val 2739"/>
            </a:avLst>
          </a:prstGeom>
          <a:solidFill>
            <a:srgbClr val="1E2E36"/>
          </a:solidFill>
          <a:ln/>
        </p:spPr>
      </p:sp>
      <p:sp>
        <p:nvSpPr>
          <p:cNvPr id="8" name="Shape 6"/>
          <p:cNvSpPr/>
          <p:nvPr/>
        </p:nvSpPr>
        <p:spPr>
          <a:xfrm>
            <a:off x="6299200" y="2133811"/>
            <a:ext cx="5080000" cy="2318385"/>
          </a:xfrm>
          <a:custGeom>
            <a:avLst/>
            <a:gdLst/>
            <a:ahLst/>
            <a:cxnLst/>
            <a:rect l="l" t="t" r="r" b="b"/>
            <a:pathLst>
              <a:path w="5080000" h="2318385">
                <a:moveTo>
                  <a:pt x="63500" y="2318385"/>
                </a:moveTo>
                <a:lnTo>
                  <a:pt x="63500" y="2318385"/>
                </a:lnTo>
                <a:arcTo hR="63500" wR="63500" stAng="5400000" swAng="5400000"/>
                <a:lnTo>
                  <a:pt x="0" y="63500"/>
                </a:lnTo>
                <a:arcTo hR="63500" wR="63500" stAng="10800000" swAng="5400000"/>
                <a:lnTo>
                  <a:pt x="63500" y="0"/>
                </a:lnTo>
                <a:arcTo hR="63500" wR="38100" stAng="16200000" swAng="-5400000"/>
                <a:lnTo>
                  <a:pt x="25400" y="2254885"/>
                </a:lnTo>
                <a:arcTo hR="63500" wR="38100" stAng="10800000" swAng="-5400000"/>
                <a:close/>
              </a:path>
            </a:pathLst>
          </a:custGeom>
          <a:solidFill>
            <a:srgbClr val="D4B263"/>
          </a:solidFill>
          <a:ln/>
        </p:spPr>
      </p:sp>
      <p:sp>
        <p:nvSpPr>
          <p:cNvPr id="9" name="Text 7"/>
          <p:cNvSpPr/>
          <p:nvPr/>
        </p:nvSpPr>
        <p:spPr>
          <a:xfrm>
            <a:off x="6578600" y="2387811"/>
            <a:ext cx="468299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D4B263"/>
                </a:solidFill>
                <a:latin typeface="IBM Plex Sans" pitchFamily="34" charset="0"/>
                <a:ea typeface="IBM Plex Sans" pitchFamily="34" charset="-122"/>
                <a:cs typeface="IBM Plex Sans" pitchFamily="34" charset="-120"/>
              </a:rPr>
              <a:t>What it does not</a:t>
            </a:r>
            <a:endParaRPr lang="en-US" sz="1600" dirty="0"/>
          </a:p>
        </p:txBody>
      </p:sp>
      <p:sp>
        <p:nvSpPr>
          <p:cNvPr id="10" name="Text 8"/>
          <p:cNvSpPr/>
          <p:nvPr/>
        </p:nvSpPr>
        <p:spPr>
          <a:xfrm>
            <a:off x="6638544" y="2745953"/>
            <a:ext cx="4616196" cy="1477645"/>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A7BAC0"/>
                </a:solidFill>
                <a:latin typeface="IBM Plex Sans" pitchFamily="34" charset="0"/>
                <a:ea typeface="IBM Plex Sans" pitchFamily="34" charset="-122"/>
                <a:cs typeface="IBM Plex Sans" pitchFamily="34" charset="-120"/>
              </a:rPr>
              <a:t>How good the work actually is</a:t>
            </a:r>
            <a:endParaRPr lang="en-US" sz="1300" dirty="0"/>
          </a:p>
          <a:p>
            <a:pPr algn="l" marL="168656" indent="-168656">
              <a:lnSpc>
                <a:spcPts val="1885"/>
              </a:lnSpc>
              <a:buSzPct val="100000"/>
              <a:buChar char="•"/>
            </a:pPr>
            <a:r>
              <a:rPr lang="en-US" sz="1300" dirty="0">
                <a:solidFill>
                  <a:srgbClr val="A7BAC0"/>
                </a:solidFill>
                <a:latin typeface="IBM Plex Sans" pitchFamily="34" charset="0"/>
                <a:ea typeface="IBM Plex Sans" pitchFamily="34" charset="-122"/>
                <a:cs typeface="IBM Plex Sans" pitchFamily="34" charset="-120"/>
              </a:rPr>
              <a:t>How fast somebody is</a:t>
            </a:r>
            <a:endParaRPr lang="en-US" sz="1300" dirty="0"/>
          </a:p>
          <a:p>
            <a:pPr algn="l" marL="168656" indent="-168656">
              <a:lnSpc>
                <a:spcPts val="1885"/>
              </a:lnSpc>
              <a:buSzPct val="100000"/>
              <a:buChar char="•"/>
            </a:pPr>
            <a:r>
              <a:rPr lang="en-US" sz="1300" dirty="0">
                <a:solidFill>
                  <a:srgbClr val="A7BAC0"/>
                </a:solidFill>
                <a:latin typeface="IBM Plex Sans" pitchFamily="34" charset="0"/>
                <a:ea typeface="IBM Plex Sans" pitchFamily="34" charset="-122"/>
                <a:cs typeface="IBM Plex Sans" pitchFamily="34" charset="-120"/>
              </a:rPr>
              <a:t>Judgement when an engagement goes wrong at eleven at night</a:t>
            </a:r>
            <a:endParaRPr lang="en-US" sz="1300" dirty="0"/>
          </a:p>
          <a:p>
            <a:pPr algn="l" marL="168656" indent="-168656">
              <a:lnSpc>
                <a:spcPts val="1885"/>
              </a:lnSpc>
              <a:buSzPct val="100000"/>
              <a:buChar char="•"/>
            </a:pPr>
            <a:r>
              <a:rPr lang="en-US" sz="1300" dirty="0">
                <a:solidFill>
                  <a:srgbClr val="A7BAC0"/>
                </a:solidFill>
                <a:latin typeface="IBM Plex Sans" pitchFamily="34" charset="0"/>
                <a:ea typeface="IBM Plex Sans" pitchFamily="34" charset="-122"/>
                <a:cs typeface="IBM Plex Sans" pitchFamily="34" charset="-120"/>
              </a:rPr>
              <a:t>Whether a client asks for them again</a:t>
            </a:r>
            <a:endParaRPr lang="en-US" sz="1300" dirty="0"/>
          </a:p>
          <a:p>
            <a:pPr algn="l" marL="168656" indent="-168656">
              <a:lnSpc>
                <a:spcPts val="1885"/>
              </a:lnSpc>
              <a:buSzPct val="100000"/>
              <a:buChar char="•"/>
            </a:pPr>
            <a:r>
              <a:rPr lang="en-US" sz="1300" dirty="0">
                <a:solidFill>
                  <a:srgbClr val="A7BAC0"/>
                </a:solidFill>
                <a:latin typeface="IBM Plex Sans" pitchFamily="34" charset="0"/>
                <a:ea typeface="IBM Plex Sans" pitchFamily="34" charset="-122"/>
                <a:cs typeface="IBM Plex Sans" pitchFamily="34" charset="-120"/>
              </a:rPr>
              <a:t>Whether colleagues want to work with them</a:t>
            </a:r>
            <a:endParaRPr lang="en-US" sz="1300" dirty="0"/>
          </a:p>
        </p:txBody>
      </p:sp>
      <p:sp>
        <p:nvSpPr>
          <p:cNvPr id="11" name="Text 9"/>
          <p:cNvSpPr/>
          <p:nvPr/>
        </p:nvSpPr>
        <p:spPr>
          <a:xfrm>
            <a:off x="812800" y="5289550"/>
            <a:ext cx="967994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2F0EA"/>
                </a:solidFill>
                <a:latin typeface="IBM Plex Sans" pitchFamily="34" charset="0"/>
                <a:ea typeface="IBM Plex Sans" pitchFamily="34" charset="-122"/>
                <a:cs typeface="IBM Plex Sans" pitchFamily="34" charset="-120"/>
              </a:rPr>
              <a:t>A person can hold a Principal-level profile and still be difficult to staff. The ladder is a floor on capability, not a judgement of contribution, and it should never be the only input to a performance conversation.</a:t>
            </a:r>
            <a:endParaRPr lang="en-US" sz="1500" dirty="0"/>
          </a:p>
        </p:txBody>
      </p:sp>
      <p:sp>
        <p:nvSpPr>
          <p:cNvPr id="12" name="Text 10"/>
          <p:cNvSpPr/>
          <p:nvPr/>
        </p:nvSpPr>
        <p:spPr>
          <a:xfrm>
            <a:off x="812800" y="6238242"/>
            <a:ext cx="2167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Limitations and exclusions</a:t>
            </a:r>
            <a:endParaRPr lang="en-US" sz="1200" dirty="0"/>
          </a:p>
        </p:txBody>
      </p:sp>
      <p:sp>
        <p:nvSpPr>
          <p:cNvPr id="13" name="Text 1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7BAC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0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Known compromises, stated plainly</a:t>
            </a:r>
            <a:endParaRPr lang="en-US" sz="3400" dirty="0"/>
          </a:p>
        </p:txBody>
      </p:sp>
      <p:sp>
        <p:nvSpPr>
          <p:cNvPr id="3" name="Shape 1"/>
          <p:cNvSpPr/>
          <p:nvPr/>
        </p:nvSpPr>
        <p:spPr>
          <a:xfrm>
            <a:off x="812800" y="1983321"/>
            <a:ext cx="5168900" cy="1333500"/>
          </a:xfrm>
          <a:prstGeom prst="rect">
            <a:avLst/>
          </a:prstGeom>
          <a:solidFill>
            <a:srgbClr val="FBFAF6"/>
          </a:solidFill>
          <a:ln/>
        </p:spPr>
      </p:sp>
      <p:sp>
        <p:nvSpPr>
          <p:cNvPr id="4" name="Shape 2"/>
          <p:cNvSpPr/>
          <p:nvPr/>
        </p:nvSpPr>
        <p:spPr>
          <a:xfrm>
            <a:off x="825500" y="1983321"/>
            <a:ext cx="0" cy="1333500"/>
          </a:xfrm>
          <a:prstGeom prst="line">
            <a:avLst/>
          </a:prstGeom>
          <a:noFill/>
          <a:ln w="25400">
            <a:solidFill>
              <a:srgbClr val="7A5C1C"/>
            </a:solidFill>
            <a:prstDash val="solid"/>
          </a:ln>
        </p:spPr>
      </p:sp>
      <p:sp>
        <p:nvSpPr>
          <p:cNvPr id="5" name="Text 3"/>
          <p:cNvSpPr/>
          <p:nvPr/>
        </p:nvSpPr>
        <p:spPr>
          <a:xfrm>
            <a:off x="1028700" y="2173821"/>
            <a:ext cx="490537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7A5C1C"/>
                </a:solidFill>
                <a:latin typeface="IBM Plex Sans" pitchFamily="34" charset="0"/>
                <a:ea typeface="IBM Plex Sans" pitchFamily="34" charset="-122"/>
                <a:cs typeface="IBM Plex Sans" pitchFamily="34" charset="-120"/>
              </a:rPr>
              <a:t>Thresholds are one template, not per-domain evidence</a:t>
            </a:r>
            <a:endParaRPr lang="en-US" sz="1400" dirty="0"/>
          </a:p>
        </p:txBody>
      </p:sp>
      <p:sp>
        <p:nvSpPr>
          <p:cNvPr id="6" name="Text 4"/>
          <p:cNvSpPr/>
          <p:nvPr/>
        </p:nvSpPr>
        <p:spPr>
          <a:xfrm>
            <a:off x="1028700" y="2463378"/>
            <a:ext cx="4905375"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46B"/>
                </a:solidFill>
                <a:latin typeface="IBM Plex Sans" pitchFamily="34" charset="0"/>
                <a:ea typeface="IBM Plex Sans" pitchFamily="34" charset="-122"/>
                <a:cs typeface="IBM Plex Sans" pitchFamily="34" charset="-120"/>
              </a:rPr>
              <a:t>One proportional template scaled to each domain's size, with an identical foundations bar in all eleven. Not calibrated per domain, and not validated against outcomes.</a:t>
            </a:r>
            <a:endParaRPr lang="en-US" sz="1200" dirty="0"/>
          </a:p>
        </p:txBody>
      </p:sp>
      <p:sp>
        <p:nvSpPr>
          <p:cNvPr id="7" name="Shape 5"/>
          <p:cNvSpPr/>
          <p:nvPr/>
        </p:nvSpPr>
        <p:spPr>
          <a:xfrm>
            <a:off x="6210300" y="1983321"/>
            <a:ext cx="5168900" cy="1333500"/>
          </a:xfrm>
          <a:prstGeom prst="rect">
            <a:avLst/>
          </a:prstGeom>
          <a:solidFill>
            <a:srgbClr val="FBFAF6"/>
          </a:solidFill>
          <a:ln/>
        </p:spPr>
      </p:sp>
      <p:sp>
        <p:nvSpPr>
          <p:cNvPr id="8" name="Shape 6"/>
          <p:cNvSpPr/>
          <p:nvPr/>
        </p:nvSpPr>
        <p:spPr>
          <a:xfrm>
            <a:off x="6223000" y="1983321"/>
            <a:ext cx="0" cy="1333500"/>
          </a:xfrm>
          <a:prstGeom prst="line">
            <a:avLst/>
          </a:prstGeom>
          <a:noFill/>
          <a:ln w="25400">
            <a:solidFill>
              <a:srgbClr val="7A5C1C"/>
            </a:solidFill>
            <a:prstDash val="solid"/>
          </a:ln>
        </p:spPr>
      </p:sp>
      <p:sp>
        <p:nvSpPr>
          <p:cNvPr id="9" name="Text 7"/>
          <p:cNvSpPr/>
          <p:nvPr/>
        </p:nvSpPr>
        <p:spPr>
          <a:xfrm>
            <a:off x="6426200" y="2173821"/>
            <a:ext cx="490537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7A5C1C"/>
                </a:solidFill>
                <a:latin typeface="IBM Plex Sans" pitchFamily="34" charset="0"/>
                <a:ea typeface="IBM Plex Sans" pitchFamily="34" charset="-122"/>
                <a:cs typeface="IBM Plex Sans" pitchFamily="34" charset="-120"/>
              </a:rPr>
              <a:t>Levels are ordinal, and we average them</a:t>
            </a:r>
            <a:endParaRPr lang="en-US" sz="1400" dirty="0"/>
          </a:p>
        </p:txBody>
      </p:sp>
      <p:sp>
        <p:nvSpPr>
          <p:cNvPr id="10" name="Text 8"/>
          <p:cNvSpPr/>
          <p:nvPr/>
        </p:nvSpPr>
        <p:spPr>
          <a:xfrm>
            <a:off x="6426200" y="2463378"/>
            <a:ext cx="490537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46B"/>
                </a:solidFill>
                <a:latin typeface="IBM Plex Sans" pitchFamily="34" charset="0"/>
                <a:ea typeface="IBM Plex Sans" pitchFamily="34" charset="-122"/>
                <a:cs typeface="IBM Plex Sans" pitchFamily="34" charset="-120"/>
              </a:rPr>
              <a:t>Level 4 is not twice level 2. The foundations average works as a gate and would be indefensible as a score.</a:t>
            </a:r>
            <a:endParaRPr lang="en-US" sz="1200" dirty="0"/>
          </a:p>
        </p:txBody>
      </p:sp>
      <p:sp>
        <p:nvSpPr>
          <p:cNvPr id="11" name="Shape 9"/>
          <p:cNvSpPr/>
          <p:nvPr/>
        </p:nvSpPr>
        <p:spPr>
          <a:xfrm>
            <a:off x="812800" y="3545421"/>
            <a:ext cx="5168900" cy="1333500"/>
          </a:xfrm>
          <a:prstGeom prst="rect">
            <a:avLst/>
          </a:prstGeom>
          <a:solidFill>
            <a:srgbClr val="FBFAF6"/>
          </a:solidFill>
          <a:ln/>
        </p:spPr>
      </p:sp>
      <p:sp>
        <p:nvSpPr>
          <p:cNvPr id="12" name="Shape 10"/>
          <p:cNvSpPr/>
          <p:nvPr/>
        </p:nvSpPr>
        <p:spPr>
          <a:xfrm>
            <a:off x="825500" y="3545421"/>
            <a:ext cx="0" cy="1333500"/>
          </a:xfrm>
          <a:prstGeom prst="line">
            <a:avLst/>
          </a:prstGeom>
          <a:noFill/>
          <a:ln w="25400">
            <a:solidFill>
              <a:srgbClr val="7A5C1C"/>
            </a:solidFill>
            <a:prstDash val="solid"/>
          </a:ln>
        </p:spPr>
      </p:sp>
      <p:sp>
        <p:nvSpPr>
          <p:cNvPr id="13" name="Text 11"/>
          <p:cNvSpPr/>
          <p:nvPr/>
        </p:nvSpPr>
        <p:spPr>
          <a:xfrm>
            <a:off x="1028700" y="3735921"/>
            <a:ext cx="490537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7A5C1C"/>
                </a:solidFill>
                <a:latin typeface="IBM Plex Sans" pitchFamily="34" charset="0"/>
                <a:ea typeface="IBM Plex Sans" pitchFamily="34" charset="-122"/>
                <a:cs typeface="IBM Plex Sans" pitchFamily="34" charset="-120"/>
              </a:rPr>
              <a:t>Decay is recorded but not applied</a:t>
            </a:r>
            <a:endParaRPr lang="en-US" sz="1400" dirty="0"/>
          </a:p>
        </p:txBody>
      </p:sp>
      <p:sp>
        <p:nvSpPr>
          <p:cNvPr id="14" name="Text 12"/>
          <p:cNvSpPr/>
          <p:nvPr/>
        </p:nvSpPr>
        <p:spPr>
          <a:xfrm>
            <a:off x="1028700" y="4025478"/>
            <a:ext cx="490537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46B"/>
                </a:solidFill>
                <a:latin typeface="IBM Plex Sans" pitchFamily="34" charset="0"/>
                <a:ea typeface="IBM Plex Sans" pitchFamily="34" charset="-122"/>
                <a:cs typeface="IBM Plex Sans" pitchFamily="34" charset="-120"/>
              </a:rPr>
              <a:t>Nothing reduces a level that has gone three years unpracticed. Only a person reading the dates will notice.</a:t>
            </a:r>
            <a:endParaRPr lang="en-US" sz="1200" dirty="0"/>
          </a:p>
        </p:txBody>
      </p:sp>
      <p:sp>
        <p:nvSpPr>
          <p:cNvPr id="15" name="Shape 13"/>
          <p:cNvSpPr/>
          <p:nvPr/>
        </p:nvSpPr>
        <p:spPr>
          <a:xfrm>
            <a:off x="6210300" y="3545421"/>
            <a:ext cx="5168900" cy="1333500"/>
          </a:xfrm>
          <a:prstGeom prst="rect">
            <a:avLst/>
          </a:prstGeom>
          <a:solidFill>
            <a:srgbClr val="FBFAF6"/>
          </a:solidFill>
          <a:ln/>
        </p:spPr>
      </p:sp>
      <p:sp>
        <p:nvSpPr>
          <p:cNvPr id="16" name="Shape 14"/>
          <p:cNvSpPr/>
          <p:nvPr/>
        </p:nvSpPr>
        <p:spPr>
          <a:xfrm>
            <a:off x="6223000" y="3545421"/>
            <a:ext cx="0" cy="1333500"/>
          </a:xfrm>
          <a:prstGeom prst="line">
            <a:avLst/>
          </a:prstGeom>
          <a:noFill/>
          <a:ln w="25400">
            <a:solidFill>
              <a:srgbClr val="7A5C1C"/>
            </a:solidFill>
            <a:prstDash val="solid"/>
          </a:ln>
        </p:spPr>
      </p:sp>
      <p:sp>
        <p:nvSpPr>
          <p:cNvPr id="17" name="Text 15"/>
          <p:cNvSpPr/>
          <p:nvPr/>
        </p:nvSpPr>
        <p:spPr>
          <a:xfrm>
            <a:off x="6426200" y="3735921"/>
            <a:ext cx="490537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7A5C1C"/>
                </a:solidFill>
                <a:latin typeface="IBM Plex Sans" pitchFamily="34" charset="0"/>
                <a:ea typeface="IBM Plex Sans" pitchFamily="34" charset="-122"/>
                <a:cs typeface="IBM Plex Sans" pitchFamily="34" charset="-120"/>
              </a:rPr>
              <a:t>Breadth against depth is not codified</a:t>
            </a:r>
            <a:endParaRPr lang="en-US" sz="1400" dirty="0"/>
          </a:p>
        </p:txBody>
      </p:sp>
      <p:sp>
        <p:nvSpPr>
          <p:cNvPr id="18" name="Text 16"/>
          <p:cNvSpPr/>
          <p:nvPr/>
        </p:nvSpPr>
        <p:spPr>
          <a:xfrm>
            <a:off x="6426200" y="4025478"/>
            <a:ext cx="4905375"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46B"/>
                </a:solidFill>
                <a:latin typeface="IBM Plex Sans" pitchFamily="34" charset="0"/>
                <a:ea typeface="IBM Plex Sans" pitchFamily="34" charset="-122"/>
                <a:cs typeface="IBM Plex Sans" pitchFamily="34" charset="-120"/>
              </a:rPr>
              <a:t>Somebody senior in two domains may be judged beyond both. That call is real, it is made, and nothing in the system records or constrains it.</a:t>
            </a:r>
            <a:endParaRPr lang="en-US" sz="1200" dirty="0"/>
          </a:p>
        </p:txBody>
      </p:sp>
      <p:sp>
        <p:nvSpPr>
          <p:cNvPr id="19" name="Text 17"/>
          <p:cNvSpPr/>
          <p:nvPr/>
        </p:nvSpPr>
        <p:spPr>
          <a:xfrm>
            <a:off x="812800" y="5565775"/>
            <a:ext cx="967994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6232A"/>
                </a:solidFill>
                <a:latin typeface="IBM Plex Sans" pitchFamily="34" charset="0"/>
                <a:ea typeface="IBM Plex Sans" pitchFamily="34" charset="-122"/>
                <a:cs typeface="IBM Plex Sans" pitchFamily="34" charset="-120"/>
              </a:rPr>
              <a:t>A system that is not honest about its limits invites use it cannot support.</a:t>
            </a:r>
            <a:endParaRPr lang="en-US" sz="1500" dirty="0"/>
          </a:p>
        </p:txBody>
      </p:sp>
      <p:sp>
        <p:nvSpPr>
          <p:cNvPr id="20" name="Text 18"/>
          <p:cNvSpPr/>
          <p:nvPr/>
        </p:nvSpPr>
        <p:spPr>
          <a:xfrm>
            <a:off x="812800" y="6238242"/>
            <a:ext cx="2167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Limitations and exclusions</a:t>
            </a:r>
            <a:endParaRPr lang="en-US" sz="1200" dirty="0"/>
          </a:p>
        </p:txBody>
      </p:sp>
      <p:sp>
        <p:nvSpPr>
          <p:cNvPr id="21" name="Text 1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6E3D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9058"/>
          </a:xfrm>
          <a:prstGeom prst="rect">
            <a:avLst/>
          </a:prstGeom>
          <a:noFill/>
          <a:ln/>
        </p:spPr>
        <p:txBody>
          <a:bodyPr wrap="square" lIns="0" tIns="0" rIns="0" bIns="0" rtlCol="0" anchor="t">
            <a:normAutofit/>
          </a:bodyPr>
          <a:lstStyle/>
          <a:p>
            <a:pPr algn="l" indent="0" marL="0">
              <a:lnSpc>
                <a:spcPts val="3808"/>
              </a:lnSpc>
              <a:buNone/>
            </a:pPr>
            <a:r>
              <a:rPr lang="en-US" sz="3400" b="0" i="0" dirty="0">
                <a:solidFill>
                  <a:srgbClr val="16232A"/>
                </a:solidFill>
                <a:latin typeface="Source Serif 4" pitchFamily="18" charset="0"/>
                <a:ea typeface="Source Serif 4" pitchFamily="18" charset="-122"/>
                <a:cs typeface="Source Serif 4" pitchFamily="18" charset="-120"/>
              </a:rPr>
              <a:t>Four things not to do with it</a:t>
            </a:r>
            <a:endParaRPr lang="en-US" sz="3400" dirty="0"/>
          </a:p>
        </p:txBody>
      </p:sp>
      <p:sp>
        <p:nvSpPr>
          <p:cNvPr id="3" name="Shape 1"/>
          <p:cNvSpPr/>
          <p:nvPr/>
        </p:nvSpPr>
        <p:spPr>
          <a:xfrm>
            <a:off x="815975" y="2240806"/>
            <a:ext cx="2482850" cy="1799590"/>
          </a:xfrm>
          <a:prstGeom prst="roundRect">
            <a:avLst>
              <a:gd name="adj" fmla="val 3352"/>
            </a:avLst>
          </a:prstGeom>
          <a:solidFill>
            <a:srgbClr val="FBFAF6"/>
          </a:solidFill>
          <a:ln w="6350">
            <a:solidFill>
              <a:srgbClr val="D3D0C6"/>
            </a:solidFill>
            <a:prstDash val="solid"/>
          </a:ln>
        </p:spPr>
      </p:sp>
      <p:sp>
        <p:nvSpPr>
          <p:cNvPr id="4" name="Text 2"/>
          <p:cNvSpPr/>
          <p:nvPr/>
        </p:nvSpPr>
        <p:spPr>
          <a:xfrm>
            <a:off x="1022350" y="2447181"/>
            <a:ext cx="213220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32A"/>
                </a:solidFill>
                <a:latin typeface="IBM Plex Sans" pitchFamily="34" charset="0"/>
                <a:ea typeface="IBM Plex Sans" pitchFamily="34" charset="-122"/>
                <a:cs typeface="IBM Plex Sans" pitchFamily="34" charset="-120"/>
              </a:rPr>
              <a:t>Map levels to pay bands</a:t>
            </a:r>
            <a:endParaRPr lang="en-US" sz="1400" dirty="0"/>
          </a:p>
        </p:txBody>
      </p:sp>
      <p:sp>
        <p:nvSpPr>
          <p:cNvPr id="5" name="Text 3"/>
          <p:cNvSpPr/>
          <p:nvPr/>
        </p:nvSpPr>
        <p:spPr>
          <a:xfrm>
            <a:off x="1022350" y="2736738"/>
            <a:ext cx="2132203"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46B"/>
                </a:solidFill>
                <a:latin typeface="IBM Plex Sans" pitchFamily="34" charset="0"/>
                <a:ea typeface="IBM Plex Sans" pitchFamily="34" charset="-122"/>
                <a:cs typeface="IBM Plex Sans" pitchFamily="34" charset="-120"/>
              </a:rPr>
              <a:t>The scale will not bear that weight, least of all between two different domains.</a:t>
            </a:r>
            <a:endParaRPr lang="en-US" sz="1200" dirty="0"/>
          </a:p>
        </p:txBody>
      </p:sp>
      <p:sp>
        <p:nvSpPr>
          <p:cNvPr id="6" name="Shape 4"/>
          <p:cNvSpPr/>
          <p:nvPr/>
        </p:nvSpPr>
        <p:spPr>
          <a:xfrm>
            <a:off x="3508375" y="2240806"/>
            <a:ext cx="2482850" cy="1799590"/>
          </a:xfrm>
          <a:prstGeom prst="roundRect">
            <a:avLst>
              <a:gd name="adj" fmla="val 3352"/>
            </a:avLst>
          </a:prstGeom>
          <a:solidFill>
            <a:srgbClr val="FBFAF6"/>
          </a:solidFill>
          <a:ln w="6350">
            <a:solidFill>
              <a:srgbClr val="D3D0C6"/>
            </a:solidFill>
            <a:prstDash val="solid"/>
          </a:ln>
        </p:spPr>
      </p:sp>
      <p:sp>
        <p:nvSpPr>
          <p:cNvPr id="7" name="Text 5"/>
          <p:cNvSpPr/>
          <p:nvPr/>
        </p:nvSpPr>
        <p:spPr>
          <a:xfrm>
            <a:off x="3714750" y="2447181"/>
            <a:ext cx="2132203"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32A"/>
                </a:solidFill>
                <a:latin typeface="IBM Plex Sans" pitchFamily="34" charset="0"/>
                <a:ea typeface="IBM Plex Sans" pitchFamily="34" charset="-122"/>
                <a:cs typeface="IBM Plex Sans" pitchFamily="34" charset="-120"/>
              </a:rPr>
              <a:t>Compare across domains</a:t>
            </a:r>
            <a:endParaRPr lang="en-US" sz="1400" dirty="0"/>
          </a:p>
        </p:txBody>
      </p:sp>
      <p:sp>
        <p:nvSpPr>
          <p:cNvPr id="8" name="Text 6"/>
          <p:cNvSpPr/>
          <p:nvPr/>
        </p:nvSpPr>
        <p:spPr>
          <a:xfrm>
            <a:off x="3714750" y="2950108"/>
            <a:ext cx="2132203"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46B"/>
                </a:solidFill>
                <a:latin typeface="IBM Plex Sans" pitchFamily="34" charset="0"/>
                <a:ea typeface="IBM Plex Sans" pitchFamily="34" charset="-122"/>
                <a:cs typeface="IBM Plex Sans" pitchFamily="34" charset="-120"/>
              </a:rPr>
              <a:t>A level 3 in cryptography and a level 3 in OSINT are not the same amount of work. There is no exchange rate.</a:t>
            </a:r>
            <a:endParaRPr lang="en-US" sz="1200" dirty="0"/>
          </a:p>
        </p:txBody>
      </p:sp>
      <p:sp>
        <p:nvSpPr>
          <p:cNvPr id="9" name="Shape 7"/>
          <p:cNvSpPr/>
          <p:nvPr/>
        </p:nvSpPr>
        <p:spPr>
          <a:xfrm>
            <a:off x="6200775" y="2240806"/>
            <a:ext cx="2482850" cy="1799590"/>
          </a:xfrm>
          <a:prstGeom prst="roundRect">
            <a:avLst>
              <a:gd name="adj" fmla="val 3352"/>
            </a:avLst>
          </a:prstGeom>
          <a:solidFill>
            <a:srgbClr val="FBFAF6"/>
          </a:solidFill>
          <a:ln w="6350">
            <a:solidFill>
              <a:srgbClr val="D3D0C6"/>
            </a:solidFill>
            <a:prstDash val="solid"/>
          </a:ln>
        </p:spPr>
      </p:sp>
      <p:sp>
        <p:nvSpPr>
          <p:cNvPr id="10" name="Text 8"/>
          <p:cNvSpPr/>
          <p:nvPr/>
        </p:nvSpPr>
        <p:spPr>
          <a:xfrm>
            <a:off x="6407150" y="2447181"/>
            <a:ext cx="2132203"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32A"/>
                </a:solidFill>
                <a:latin typeface="IBM Plex Sans" pitchFamily="34" charset="0"/>
                <a:ea typeface="IBM Plex Sans" pitchFamily="34" charset="-122"/>
                <a:cs typeface="IBM Plex Sans" pitchFamily="34" charset="-120"/>
              </a:rPr>
              <a:t>Read a self-rating as performance</a:t>
            </a:r>
            <a:endParaRPr lang="en-US" sz="1400" dirty="0"/>
          </a:p>
        </p:txBody>
      </p:sp>
      <p:sp>
        <p:nvSpPr>
          <p:cNvPr id="11" name="Text 9"/>
          <p:cNvSpPr/>
          <p:nvPr/>
        </p:nvSpPr>
        <p:spPr>
          <a:xfrm>
            <a:off x="6407150" y="2950108"/>
            <a:ext cx="2132203"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46B"/>
                </a:solidFill>
                <a:latin typeface="IBM Plex Sans" pitchFamily="34" charset="0"/>
                <a:ea typeface="IBM Plex Sans" pitchFamily="34" charset="-122"/>
                <a:cs typeface="IBM Plex Sans" pitchFamily="34" charset="-120"/>
              </a:rPr>
              <a:t>It is a person describing their own competence against written criteria, which is a different thing.</a:t>
            </a:r>
            <a:endParaRPr lang="en-US" sz="1200" dirty="0"/>
          </a:p>
        </p:txBody>
      </p:sp>
      <p:sp>
        <p:nvSpPr>
          <p:cNvPr id="12" name="Shape 10"/>
          <p:cNvSpPr/>
          <p:nvPr/>
        </p:nvSpPr>
        <p:spPr>
          <a:xfrm>
            <a:off x="8893175" y="2240806"/>
            <a:ext cx="2482850" cy="1799590"/>
          </a:xfrm>
          <a:prstGeom prst="roundRect">
            <a:avLst>
              <a:gd name="adj" fmla="val 3352"/>
            </a:avLst>
          </a:prstGeom>
          <a:solidFill>
            <a:srgbClr val="FBFAF6"/>
          </a:solidFill>
          <a:ln w="6350">
            <a:solidFill>
              <a:srgbClr val="D3D0C6"/>
            </a:solidFill>
            <a:prstDash val="solid"/>
          </a:ln>
        </p:spPr>
      </p:sp>
      <p:sp>
        <p:nvSpPr>
          <p:cNvPr id="13" name="Text 11"/>
          <p:cNvSpPr/>
          <p:nvPr/>
        </p:nvSpPr>
        <p:spPr>
          <a:xfrm>
            <a:off x="9099550" y="2447181"/>
            <a:ext cx="213220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6232A"/>
                </a:solidFill>
                <a:latin typeface="IBM Plex Sans" pitchFamily="34" charset="0"/>
                <a:ea typeface="IBM Plex Sans" pitchFamily="34" charset="-122"/>
                <a:cs typeface="IBM Plex Sans" pitchFamily="34" charset="-120"/>
              </a:rPr>
              <a:t>Quote a stale level</a:t>
            </a:r>
            <a:endParaRPr lang="en-US" sz="1400" dirty="0"/>
          </a:p>
        </p:txBody>
      </p:sp>
      <p:sp>
        <p:nvSpPr>
          <p:cNvPr id="14" name="Text 12"/>
          <p:cNvSpPr/>
          <p:nvPr/>
        </p:nvSpPr>
        <p:spPr>
          <a:xfrm>
            <a:off x="9099550" y="2736738"/>
            <a:ext cx="2132203"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5646B"/>
                </a:solidFill>
                <a:latin typeface="IBM Plex Sans" pitchFamily="34" charset="0"/>
                <a:ea typeface="IBM Plex Sans" pitchFamily="34" charset="-122"/>
                <a:cs typeface="IBM Plex Sans" pitchFamily="34" charset="-120"/>
              </a:rPr>
              <a:t>Check the assessed date and the last-practiced date before using any profile in a decision.</a:t>
            </a:r>
            <a:endParaRPr lang="en-US" sz="1200" dirty="0"/>
          </a:p>
        </p:txBody>
      </p:sp>
      <p:sp>
        <p:nvSpPr>
          <p:cNvPr id="15" name="Shape 13"/>
          <p:cNvSpPr/>
          <p:nvPr/>
        </p:nvSpPr>
        <p:spPr>
          <a:xfrm>
            <a:off x="812800" y="4994275"/>
            <a:ext cx="10566400" cy="0"/>
          </a:xfrm>
          <a:prstGeom prst="line">
            <a:avLst/>
          </a:prstGeom>
          <a:noFill/>
          <a:ln w="19050">
            <a:solidFill>
              <a:srgbClr val="6B4A8C"/>
            </a:solidFill>
            <a:prstDash val="solid"/>
          </a:ln>
        </p:spPr>
      </p:sp>
      <p:sp>
        <p:nvSpPr>
          <p:cNvPr id="16" name="Text 14"/>
          <p:cNvSpPr/>
          <p:nvPr/>
        </p:nvSpPr>
        <p:spPr>
          <a:xfrm>
            <a:off x="812800" y="5181600"/>
            <a:ext cx="994156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6232A"/>
                </a:solidFill>
                <a:latin typeface="Source Serif 4" pitchFamily="18" charset="0"/>
                <a:ea typeface="Source Serif 4" pitchFamily="18" charset="-122"/>
                <a:cs typeface="Source Serif 4" pitchFamily="18" charset="-120"/>
              </a:rPr>
              <a:t>Used for what it measures, this is the most defensible record of capability the laboratory has. Used for anything else, it will mislead.</a:t>
            </a:r>
            <a:endParaRPr lang="en-US" sz="2000" dirty="0"/>
          </a:p>
        </p:txBody>
      </p:sp>
      <p:sp>
        <p:nvSpPr>
          <p:cNvPr id="17" name="Text 15"/>
          <p:cNvSpPr/>
          <p:nvPr/>
        </p:nvSpPr>
        <p:spPr>
          <a:xfrm>
            <a:off x="812800" y="6238242"/>
            <a:ext cx="2167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Limitations and exclusions</a:t>
            </a:r>
            <a:endParaRPr lang="en-US" sz="1200" dirty="0"/>
          </a:p>
        </p:txBody>
      </p:sp>
      <p:sp>
        <p:nvSpPr>
          <p:cNvPr id="18" name="Text 1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46B"/>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theme/theme1.xml><?xml version="1.0" encoding="utf-8"?>
<a:theme xmlns:a="http://schemas.openxmlformats.org/drawingml/2006/main" name="Competence, Measured">
  <a:themeElements>
    <a:clrScheme name="Competence, Measured">
      <a:dk1>
        <a:srgbClr val="16232A"/>
      </a:dk1>
      <a:lt1>
        <a:srgbClr val="F2F0EA"/>
      </a:lt1>
      <a:dk2>
        <a:srgbClr val="4D565A"/>
      </a:dk2>
      <a:lt2>
        <a:srgbClr val="DCDCD7"/>
      </a:lt2>
      <a:accent1>
        <a:srgbClr val="6B4A8C"/>
      </a:accent1>
      <a:accent2>
        <a:srgbClr val="B9A0DA"/>
      </a:accent2>
      <a:accent3>
        <a:srgbClr val="7A5C1C"/>
      </a:accent3>
      <a:accent4>
        <a:srgbClr val="D4B263"/>
      </a:accent4>
      <a:accent5>
        <a:srgbClr val="55646B"/>
      </a:accent5>
      <a:accent6>
        <a:srgbClr val="A7BAC0"/>
      </a:accent6>
      <a:hlink>
        <a:srgbClr val="0563C1"/>
      </a:hlink>
      <a:folHlink>
        <a:srgbClr val="954F72"/>
      </a:folHlink>
    </a:clrScheme>
    <a:fontScheme name="Competence, Measured">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Competence, Measured</dc:title>
  <dc:subject/>
  <dc:creator/>
  <cp:lastModifiedBy/>
  <cp:revision>1</cp:revision>
  <dcterms:created xsi:type="dcterms:W3CDTF">2026-10-14T20:28:48Z</dcterms:created>
  <dcterms:modified xsi:type="dcterms:W3CDTF">2026-10-14T20:28:48Z</dcterms:modified>
</cp:coreProperties>
</file>